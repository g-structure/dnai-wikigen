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TextBox 2"/>
          <p:cNvSpPr txBox="1"/>
          <p:nvPr/>
        </p:nvSpPr>
        <p:spPr>
          <a:xfrm>
            <a:off x="731519" y="822960"/>
            <a:ext cx="6400801" cy="831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40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wikigen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731519" y="1920239"/>
            <a:ext cx="5852162" cy="130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26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Private data can become verified reward without becoming public data.</a:t>
            </a:r>
          </a:p>
        </p:txBody>
      </p:sp>
      <p:sp>
        <p:nvSpPr>
          <p:cNvPr id="97" name="TextBox 4"/>
          <p:cNvSpPr txBox="1"/>
          <p:nvPr/>
        </p:nvSpPr>
        <p:spPr>
          <a:xfrm>
            <a:off x="731519" y="3794759"/>
            <a:ext cx="5577842" cy="7235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0000"/>
              </a:lnSpc>
              <a:defRPr sz="14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dnai-wikigen is a private evaluation, private reward, and attested settlement substrate: sealed data and verifiers inside dstack TEEs, bounded outputs and escrow on Base.</a:t>
            </a:r>
          </a:p>
        </p:txBody>
      </p:sp>
      <p:sp>
        <p:nvSpPr>
          <p:cNvPr id="98" name="Rounded Rectangle 5"/>
          <p:cNvSpPr/>
          <p:nvPr/>
        </p:nvSpPr>
        <p:spPr>
          <a:xfrm>
            <a:off x="731519" y="5120640"/>
            <a:ext cx="2651762" cy="347473"/>
          </a:xfrm>
          <a:prstGeom prst="roundRect">
            <a:avLst>
              <a:gd name="adj" fmla="val 50000"/>
            </a:avLst>
          </a:prstGeom>
          <a:ln w="12700">
            <a:solidFill>
              <a:srgbClr val="A78BF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" name="TextBox 6"/>
          <p:cNvSpPr txBox="1"/>
          <p:nvPr/>
        </p:nvSpPr>
        <p:spPr>
          <a:xfrm>
            <a:off x="731519" y="5238242"/>
            <a:ext cx="2651762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A78B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project pitch, not a startup pitch</a:t>
            </a:r>
          </a:p>
        </p:txBody>
      </p:sp>
      <p:sp>
        <p:nvSpPr>
          <p:cNvPr id="100" name="TextBox 7"/>
          <p:cNvSpPr txBox="1"/>
          <p:nvPr/>
        </p:nvSpPr>
        <p:spPr>
          <a:xfrm>
            <a:off x="731519" y="6455664"/>
            <a:ext cx="274320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wikigen.me</a:t>
            </a:r>
          </a:p>
        </p:txBody>
      </p:sp>
      <p:sp>
        <p:nvSpPr>
          <p:cNvPr id="101" name="TextBox 8"/>
          <p:cNvSpPr txBox="1"/>
          <p:nvPr/>
        </p:nvSpPr>
        <p:spPr>
          <a:xfrm>
            <a:off x="10881359" y="6455664"/>
            <a:ext cx="59436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04" name="TextBox 2"/>
          <p:cNvSpPr txBox="1"/>
          <p:nvPr/>
        </p:nvSpPr>
        <p:spPr>
          <a:xfrm>
            <a:off x="731519" y="384047"/>
            <a:ext cx="731520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PROBLEM</a:t>
            </a:r>
          </a:p>
        </p:txBody>
      </p:sp>
      <p:sp>
        <p:nvSpPr>
          <p:cNvPr id="105" name="TextBox 3"/>
          <p:cNvSpPr txBox="1"/>
          <p:nvPr/>
        </p:nvSpPr>
        <p:spPr>
          <a:xfrm>
            <a:off x="731519" y="713231"/>
            <a:ext cx="10698482" cy="9516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b="1" sz="300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most valuable data cannot be shared like ordinary data.</a:t>
            </a:r>
          </a:p>
        </p:txBody>
      </p:sp>
      <p:sp>
        <p:nvSpPr>
          <p:cNvPr id="106" name="TextBox 4"/>
          <p:cNvSpPr txBox="1"/>
          <p:nvPr/>
        </p:nvSpPr>
        <p:spPr>
          <a:xfrm>
            <a:off x="731519" y="1965960"/>
            <a:ext cx="9326882" cy="450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4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Bio datasets, private benchmarks, reward functions, source accounts, and proprietary tests have value because they can evaluate something. Direct disclosure destroys that leverage.</a:t>
            </a:r>
          </a:p>
        </p:txBody>
      </p:sp>
      <p:sp>
        <p:nvSpPr>
          <p:cNvPr id="107" name="Oval 5"/>
          <p:cNvSpPr/>
          <p:nvPr/>
        </p:nvSpPr>
        <p:spPr>
          <a:xfrm>
            <a:off x="777240" y="3145535"/>
            <a:ext cx="82297" cy="82297"/>
          </a:xfrm>
          <a:prstGeom prst="ellipse">
            <a:avLst/>
          </a:prstGeom>
          <a:solidFill>
            <a:srgbClr val="6EE7C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" name="TextBox 6"/>
          <p:cNvSpPr txBox="1"/>
          <p:nvPr/>
        </p:nvSpPr>
        <p:spPr>
          <a:xfrm>
            <a:off x="1051560" y="3063239"/>
            <a:ext cx="9966960" cy="2105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5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Data owners need proof of utility without handing over the data.</a:t>
            </a:r>
          </a:p>
        </p:txBody>
      </p:sp>
      <p:sp>
        <p:nvSpPr>
          <p:cNvPr id="109" name="Oval 7"/>
          <p:cNvSpPr/>
          <p:nvPr/>
        </p:nvSpPr>
        <p:spPr>
          <a:xfrm>
            <a:off x="777240" y="3922776"/>
            <a:ext cx="82297" cy="82297"/>
          </a:xfrm>
          <a:prstGeom prst="ellipse">
            <a:avLst/>
          </a:prstGeom>
          <a:solidFill>
            <a:srgbClr val="6EE7C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" name="TextBox 8"/>
          <p:cNvSpPr txBox="1"/>
          <p:nvPr/>
        </p:nvSpPr>
        <p:spPr>
          <a:xfrm>
            <a:off x="1051560" y="3840479"/>
            <a:ext cx="9966960" cy="2105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5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Optimizers need reward signals — but raw rewards, logs, and checkpoints can leak the verifier.</a:t>
            </a:r>
          </a:p>
        </p:txBody>
      </p:sp>
      <p:sp>
        <p:nvSpPr>
          <p:cNvPr id="111" name="Oval 9"/>
          <p:cNvSpPr/>
          <p:nvPr/>
        </p:nvSpPr>
        <p:spPr>
          <a:xfrm>
            <a:off x="777240" y="4700015"/>
            <a:ext cx="82297" cy="82297"/>
          </a:xfrm>
          <a:prstGeom prst="ellipse">
            <a:avLst/>
          </a:prstGeom>
          <a:solidFill>
            <a:srgbClr val="6EE7C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" name="TextBox 10"/>
          <p:cNvSpPr txBox="1"/>
          <p:nvPr/>
        </p:nvSpPr>
        <p:spPr>
          <a:xfrm>
            <a:off x="1051560" y="4617720"/>
            <a:ext cx="9966960" cy="2105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5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Buyers need evidence the evaluation actually ran: measured code and a quote, not a PDF promise.</a:t>
            </a:r>
          </a:p>
        </p:txBody>
      </p:sp>
      <p:sp>
        <p:nvSpPr>
          <p:cNvPr id="113" name="TextBox 11"/>
          <p:cNvSpPr txBox="1"/>
          <p:nvPr/>
        </p:nvSpPr>
        <p:spPr>
          <a:xfrm>
            <a:off x="731519" y="6455664"/>
            <a:ext cx="274320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wikigen.me</a:t>
            </a:r>
          </a:p>
        </p:txBody>
      </p:sp>
      <p:sp>
        <p:nvSpPr>
          <p:cNvPr id="114" name="TextBox 12"/>
          <p:cNvSpPr txBox="1"/>
          <p:nvPr/>
        </p:nvSpPr>
        <p:spPr>
          <a:xfrm>
            <a:off x="10881359" y="6455664"/>
            <a:ext cx="59436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17" name="TextBox 2"/>
          <p:cNvSpPr txBox="1"/>
          <p:nvPr/>
        </p:nvSpPr>
        <p:spPr>
          <a:xfrm>
            <a:off x="731519" y="384047"/>
            <a:ext cx="731520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THESIS</a:t>
            </a:r>
          </a:p>
        </p:txBody>
      </p:sp>
      <p:sp>
        <p:nvSpPr>
          <p:cNvPr id="118" name="TextBox 3"/>
          <p:cNvSpPr txBox="1"/>
          <p:nvPr/>
        </p:nvSpPr>
        <p:spPr>
          <a:xfrm>
            <a:off x="731519" y="713231"/>
            <a:ext cx="10698482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b="1" sz="300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Interaction with private data is not the same as disclosure.</a:t>
            </a:r>
          </a:p>
        </p:txBody>
      </p:sp>
      <p:sp>
        <p:nvSpPr>
          <p:cNvPr id="119" name="TextBox 4"/>
          <p:cNvSpPr txBox="1"/>
          <p:nvPr/>
        </p:nvSpPr>
        <p:spPr>
          <a:xfrm>
            <a:off x="731519" y="1554480"/>
            <a:ext cx="9692642" cy="450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4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That is only true under a constrained interface: an allowed query family, measured code, authenticated callers, budgeted and reduced outputs, and an attestable transcript.</a:t>
            </a:r>
          </a:p>
        </p:txBody>
      </p:sp>
      <p:sp>
        <p:nvSpPr>
          <p:cNvPr id="120" name="Rounded Rectangle 5"/>
          <p:cNvSpPr/>
          <p:nvPr/>
        </p:nvSpPr>
        <p:spPr>
          <a:xfrm>
            <a:off x="731519" y="2788920"/>
            <a:ext cx="3429001" cy="2377441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6EE7C7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" name="TextBox 6"/>
          <p:cNvSpPr txBox="1"/>
          <p:nvPr/>
        </p:nvSpPr>
        <p:spPr>
          <a:xfrm>
            <a:off x="987552" y="3108960"/>
            <a:ext cx="2916936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sealed asset</a:t>
            </a:r>
          </a:p>
        </p:txBody>
      </p:sp>
      <p:sp>
        <p:nvSpPr>
          <p:cNvPr id="122" name="TextBox 7"/>
          <p:cNvSpPr txBox="1"/>
          <p:nvPr/>
        </p:nvSpPr>
        <p:spPr>
          <a:xfrm>
            <a:off x="987552" y="3611879"/>
            <a:ext cx="2916936" cy="6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3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Raw data, reward functions, account credentials, and browser sessions live only inside the attested TEE.</a:t>
            </a:r>
          </a:p>
        </p:txBody>
      </p:sp>
      <p:sp>
        <p:nvSpPr>
          <p:cNvPr id="123" name="Rounded Rectangle 8"/>
          <p:cNvSpPr/>
          <p:nvPr/>
        </p:nvSpPr>
        <p:spPr>
          <a:xfrm>
            <a:off x="4480559" y="2788920"/>
            <a:ext cx="3429001" cy="2377441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A78BF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" name="TextBox 9"/>
          <p:cNvSpPr txBox="1"/>
          <p:nvPr/>
        </p:nvSpPr>
        <p:spPr>
          <a:xfrm>
            <a:off x="4736591" y="3108960"/>
            <a:ext cx="2916936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A78B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reward oracle</a:t>
            </a:r>
          </a:p>
        </p:txBody>
      </p:sp>
      <p:sp>
        <p:nvSpPr>
          <p:cNvPr id="125" name="TextBox 10"/>
          <p:cNvSpPr txBox="1"/>
          <p:nvPr/>
        </p:nvSpPr>
        <p:spPr>
          <a:xfrm>
            <a:off x="4736591" y="3611879"/>
            <a:ext cx="2916936" cy="6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3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Measured verifier code computes exact rewards over the sealed data — a narrow oracle, not a shell or notebook.</a:t>
            </a:r>
          </a:p>
        </p:txBody>
      </p:sp>
      <p:sp>
        <p:nvSpPr>
          <p:cNvPr id="126" name="Rounded Rectangle 11"/>
          <p:cNvSpPr/>
          <p:nvPr/>
        </p:nvSpPr>
        <p:spPr>
          <a:xfrm>
            <a:off x="8229600" y="2788920"/>
            <a:ext cx="3429000" cy="2377441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E8C97B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" name="TextBox 12"/>
          <p:cNvSpPr txBox="1"/>
          <p:nvPr/>
        </p:nvSpPr>
        <p:spPr>
          <a:xfrm>
            <a:off x="8485631" y="3108960"/>
            <a:ext cx="291693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E8C9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bounded proof</a:t>
            </a:r>
          </a:p>
        </p:txBody>
      </p:sp>
      <p:sp>
        <p:nvSpPr>
          <p:cNvPr id="128" name="TextBox 13"/>
          <p:cNvSpPr txBox="1"/>
          <p:nvPr/>
        </p:nvSpPr>
        <p:spPr>
          <a:xfrm>
            <a:off x="8485631" y="3611879"/>
            <a:ext cx="2916937" cy="6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3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Only score bands, pass/hold/deny decisions, hashes, quotes, and settlement events leave the boundary.</a:t>
            </a:r>
          </a:p>
        </p:txBody>
      </p:sp>
      <p:sp>
        <p:nvSpPr>
          <p:cNvPr id="129" name="TextBox 14"/>
          <p:cNvSpPr txBox="1"/>
          <p:nvPr/>
        </p:nvSpPr>
        <p:spPr>
          <a:xfrm>
            <a:off x="4160520" y="3749038"/>
            <a:ext cx="32004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30" name="TextBox 15"/>
          <p:cNvSpPr txBox="1"/>
          <p:nvPr/>
        </p:nvSpPr>
        <p:spPr>
          <a:xfrm>
            <a:off x="7909559" y="3749038"/>
            <a:ext cx="32004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31" name="TextBox 16"/>
          <p:cNvSpPr txBox="1"/>
          <p:nvPr/>
        </p:nvSpPr>
        <p:spPr>
          <a:xfrm>
            <a:off x="731519" y="6455664"/>
            <a:ext cx="274320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wikigen.me</a:t>
            </a:r>
          </a:p>
        </p:txBody>
      </p:sp>
      <p:sp>
        <p:nvSpPr>
          <p:cNvPr id="132" name="TextBox 17"/>
          <p:cNvSpPr txBox="1"/>
          <p:nvPr/>
        </p:nvSpPr>
        <p:spPr>
          <a:xfrm>
            <a:off x="10881359" y="6455664"/>
            <a:ext cx="59436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35" name="TextBox 2"/>
          <p:cNvSpPr txBox="1"/>
          <p:nvPr/>
        </p:nvSpPr>
        <p:spPr>
          <a:xfrm>
            <a:off x="731519" y="384047"/>
            <a:ext cx="731520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WIKIGEN IS BUILDING</a:t>
            </a:r>
          </a:p>
        </p:txBody>
      </p:sp>
      <p:sp>
        <p:nvSpPr>
          <p:cNvPr id="136" name="TextBox 3"/>
          <p:cNvSpPr txBox="1"/>
          <p:nvPr/>
        </p:nvSpPr>
        <p:spPr>
          <a:xfrm>
            <a:off x="731519" y="713231"/>
            <a:ext cx="10698482" cy="9516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b="1" sz="300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 private verified-reward substrate: four ideas in one boundary.</a:t>
            </a:r>
          </a:p>
        </p:txBody>
      </p:sp>
      <p:sp>
        <p:nvSpPr>
          <p:cNvPr id="137" name="Rounded Rectangle 4"/>
          <p:cNvSpPr/>
          <p:nvPr/>
        </p:nvSpPr>
        <p:spPr>
          <a:xfrm>
            <a:off x="731519" y="1691639"/>
            <a:ext cx="2606041" cy="2514601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6EE7C7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" name="TextBox 5"/>
          <p:cNvSpPr txBox="1"/>
          <p:nvPr/>
        </p:nvSpPr>
        <p:spPr>
          <a:xfrm>
            <a:off x="950975" y="1938527"/>
            <a:ext cx="2167129" cy="210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b="1" sz="14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NDAI economics</a:t>
            </a:r>
          </a:p>
        </p:txBody>
      </p:sp>
      <p:sp>
        <p:nvSpPr>
          <p:cNvPr id="139" name="TextBox 6"/>
          <p:cNvSpPr txBox="1"/>
          <p:nvPr/>
        </p:nvSpPr>
        <p:spPr>
          <a:xfrm>
            <a:off x="950975" y="2606039"/>
            <a:ext cx="2167129" cy="518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2000"/>
              </a:lnSpc>
              <a:defRPr sz="12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Reserve price, budget cap, bounded disclosure, and escrow settlement mediate every deal.</a:t>
            </a:r>
          </a:p>
        </p:txBody>
      </p:sp>
      <p:sp>
        <p:nvSpPr>
          <p:cNvPr id="140" name="Rounded Rectangle 7"/>
          <p:cNvSpPr/>
          <p:nvPr/>
        </p:nvSpPr>
        <p:spPr>
          <a:xfrm>
            <a:off x="3474720" y="1691639"/>
            <a:ext cx="2606041" cy="2514601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A78BF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" name="TextBox 8"/>
          <p:cNvSpPr txBox="1"/>
          <p:nvPr/>
        </p:nvSpPr>
        <p:spPr>
          <a:xfrm>
            <a:off x="3694176" y="1938527"/>
            <a:ext cx="2167129" cy="210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b="1" sz="1400">
                <a:solidFill>
                  <a:srgbClr val="A78B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TEE custody</a:t>
            </a:r>
          </a:p>
        </p:txBody>
      </p:sp>
      <p:sp>
        <p:nvSpPr>
          <p:cNvPr id="142" name="TextBox 9"/>
          <p:cNvSpPr txBox="1"/>
          <p:nvPr/>
        </p:nvSpPr>
        <p:spPr>
          <a:xfrm>
            <a:off x="3694176" y="2606039"/>
            <a:ext cx="2167129" cy="88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2000"/>
              </a:lnSpc>
              <a:defRPr sz="12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Data, credentials, reward functions, and browser sessions are sealed in dstack Intel TDX CVMs — operators get no raw access.</a:t>
            </a:r>
          </a:p>
        </p:txBody>
      </p:sp>
      <p:sp>
        <p:nvSpPr>
          <p:cNvPr id="143" name="Rounded Rectangle 10"/>
          <p:cNvSpPr/>
          <p:nvPr/>
        </p:nvSpPr>
        <p:spPr>
          <a:xfrm>
            <a:off x="6217920" y="1691639"/>
            <a:ext cx="2606041" cy="2514601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E8C97B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" name="TextBox 11"/>
          <p:cNvSpPr txBox="1"/>
          <p:nvPr/>
        </p:nvSpPr>
        <p:spPr>
          <a:xfrm>
            <a:off x="6437376" y="1938527"/>
            <a:ext cx="2167129" cy="210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b="1" sz="1400">
                <a:solidFill>
                  <a:srgbClr val="E8C9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private verified rewards</a:t>
            </a:r>
          </a:p>
        </p:txBody>
      </p:sp>
      <p:sp>
        <p:nvSpPr>
          <p:cNvPr id="145" name="TextBox 12"/>
          <p:cNvSpPr txBox="1"/>
          <p:nvPr/>
        </p:nvSpPr>
        <p:spPr>
          <a:xfrm>
            <a:off x="6437376" y="2606039"/>
            <a:ext cx="2167129" cy="518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2000"/>
              </a:lnSpc>
              <a:defRPr sz="12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Rewards come from measured code over sealed data, not from a free-form model opinion.</a:t>
            </a:r>
          </a:p>
        </p:txBody>
      </p:sp>
      <p:sp>
        <p:nvSpPr>
          <p:cNvPr id="146" name="Rounded Rectangle 13"/>
          <p:cNvSpPr/>
          <p:nvPr/>
        </p:nvSpPr>
        <p:spPr>
          <a:xfrm>
            <a:off x="8961119" y="1691639"/>
            <a:ext cx="2606041" cy="2514601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6BD3E8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" name="TextBox 14"/>
          <p:cNvSpPr txBox="1"/>
          <p:nvPr/>
        </p:nvSpPr>
        <p:spPr>
          <a:xfrm>
            <a:off x="9180576" y="1938527"/>
            <a:ext cx="2167129" cy="210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b="1" sz="1400">
                <a:solidFill>
                  <a:srgbClr val="6BD3E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DevProof verification</a:t>
            </a:r>
          </a:p>
        </p:txBody>
      </p:sp>
      <p:sp>
        <p:nvSpPr>
          <p:cNvPr id="148" name="TextBox 15"/>
          <p:cNvSpPr txBox="1"/>
          <p:nvPr/>
        </p:nvSpPr>
        <p:spPr>
          <a:xfrm>
            <a:off x="9180576" y="2606039"/>
            <a:ext cx="2167129" cy="556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2000"/>
              </a:lnSpc>
              <a:defRPr sz="12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Anyone can check the chain: git SHA → image digest → compose hash → TDX quote → contract.</a:t>
            </a:r>
          </a:p>
        </p:txBody>
      </p:sp>
      <p:sp>
        <p:nvSpPr>
          <p:cNvPr id="149" name="TextBox 16"/>
          <p:cNvSpPr txBox="1"/>
          <p:nvPr/>
        </p:nvSpPr>
        <p:spPr>
          <a:xfrm>
            <a:off x="731519" y="4617720"/>
            <a:ext cx="10698482" cy="460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0000"/>
              </a:lnSpc>
              <a:defRPr sz="140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Two product faces share one core: the Attested Diligence Room values private artifacts; the Private Reward Lab lets optimizers actively test candidates against sealed data.</a:t>
            </a:r>
          </a:p>
        </p:txBody>
      </p:sp>
      <p:sp>
        <p:nvSpPr>
          <p:cNvPr id="150" name="TextBox 17"/>
          <p:cNvSpPr txBox="1"/>
          <p:nvPr/>
        </p:nvSpPr>
        <p:spPr>
          <a:xfrm>
            <a:off x="731519" y="6455664"/>
            <a:ext cx="274320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wikigen.me</a:t>
            </a:r>
          </a:p>
        </p:txBody>
      </p:sp>
      <p:sp>
        <p:nvSpPr>
          <p:cNvPr id="151" name="TextBox 18"/>
          <p:cNvSpPr txBox="1"/>
          <p:nvPr/>
        </p:nvSpPr>
        <p:spPr>
          <a:xfrm>
            <a:off x="10881359" y="6455664"/>
            <a:ext cx="59436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54" name="TextBox 2"/>
          <p:cNvSpPr txBox="1"/>
          <p:nvPr/>
        </p:nvSpPr>
        <p:spPr>
          <a:xfrm>
            <a:off x="731519" y="384047"/>
            <a:ext cx="731520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PRODUCT MODES</a:t>
            </a:r>
          </a:p>
        </p:txBody>
      </p:sp>
      <p:sp>
        <p:nvSpPr>
          <p:cNvPr id="155" name="TextBox 3"/>
          <p:cNvSpPr txBox="1"/>
          <p:nvPr/>
        </p:nvSpPr>
        <p:spPr>
          <a:xfrm>
            <a:off x="731519" y="713231"/>
            <a:ext cx="10698482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b="1" sz="300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protected interface, four product modes.</a:t>
            </a:r>
          </a:p>
        </p:txBody>
      </p:sp>
      <p:sp>
        <p:nvSpPr>
          <p:cNvPr id="156" name="Rounded Rectangle 4"/>
          <p:cNvSpPr/>
          <p:nvPr/>
        </p:nvSpPr>
        <p:spPr>
          <a:xfrm>
            <a:off x="731519" y="1645920"/>
            <a:ext cx="5349242" cy="1874519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6EE7C7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" name="TextBox 5"/>
          <p:cNvSpPr txBox="1"/>
          <p:nvPr/>
        </p:nvSpPr>
        <p:spPr>
          <a:xfrm>
            <a:off x="969263" y="1828800"/>
            <a:ext cx="4892042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 · Diligence Room</a:t>
            </a:r>
          </a:p>
        </p:txBody>
      </p:sp>
      <p:sp>
        <p:nvSpPr>
          <p:cNvPr id="158" name="TextBox 6"/>
          <p:cNvSpPr txBox="1"/>
          <p:nvPr/>
        </p:nvSpPr>
        <p:spPr>
          <a:xfrm>
            <a:off x="969263" y="2212848"/>
            <a:ext cx="4892042" cy="165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20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private artifact → bounded valuation → escrow settlement</a:t>
            </a:r>
          </a:p>
        </p:txBody>
      </p:sp>
      <p:sp>
        <p:nvSpPr>
          <p:cNvPr id="159" name="TextBox 7"/>
          <p:cNvSpPr txBox="1"/>
          <p:nvPr/>
        </p:nvSpPr>
        <p:spPr>
          <a:xfrm>
            <a:off x="969263" y="2816351"/>
            <a:ext cx="4892042" cy="148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Price memos, code, datasets, SOPs, and model artifacts without disclosure.</a:t>
            </a:r>
          </a:p>
        </p:txBody>
      </p:sp>
      <p:sp>
        <p:nvSpPr>
          <p:cNvPr id="160" name="Rounded Rectangle 8"/>
          <p:cNvSpPr/>
          <p:nvPr/>
        </p:nvSpPr>
        <p:spPr>
          <a:xfrm>
            <a:off x="6263640" y="1645920"/>
            <a:ext cx="5349241" cy="1874519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A78BF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1" name="TextBox 9"/>
          <p:cNvSpPr txBox="1"/>
          <p:nvPr/>
        </p:nvSpPr>
        <p:spPr>
          <a:xfrm>
            <a:off x="6501384" y="1828800"/>
            <a:ext cx="4892041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A78B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 · Private Reward Lab</a:t>
            </a:r>
          </a:p>
        </p:txBody>
      </p:sp>
      <p:sp>
        <p:nvSpPr>
          <p:cNvPr id="162" name="TextBox 10"/>
          <p:cNvSpPr txBox="1"/>
          <p:nvPr/>
        </p:nvSpPr>
        <p:spPr>
          <a:xfrm>
            <a:off x="6501384" y="2212848"/>
            <a:ext cx="4892041" cy="165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20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sealed verifier + data → reward oracle → optimizer loop → bounded proof</a:t>
            </a:r>
          </a:p>
        </p:txBody>
      </p:sp>
      <p:sp>
        <p:nvSpPr>
          <p:cNvPr id="163" name="TextBox 11"/>
          <p:cNvSpPr txBox="1"/>
          <p:nvPr/>
        </p:nvSpPr>
        <p:spPr>
          <a:xfrm>
            <a:off x="6501384" y="2816351"/>
            <a:ext cx="4892041" cy="148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RLVR, TTT-style discovery, private benchmarks, reward-function licensing.</a:t>
            </a:r>
          </a:p>
        </p:txBody>
      </p:sp>
      <p:sp>
        <p:nvSpPr>
          <p:cNvPr id="164" name="Rounded Rectangle 12"/>
          <p:cNvSpPr/>
          <p:nvPr/>
        </p:nvSpPr>
        <p:spPr>
          <a:xfrm>
            <a:off x="731519" y="3703320"/>
            <a:ext cx="5349242" cy="1874519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E8C97B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5" name="TextBox 13"/>
          <p:cNvSpPr txBox="1"/>
          <p:nvPr/>
        </p:nvSpPr>
        <p:spPr>
          <a:xfrm>
            <a:off x="969263" y="3886200"/>
            <a:ext cx="4892042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E8C9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 · Source Custody Room</a:t>
            </a:r>
          </a:p>
        </p:txBody>
      </p:sp>
      <p:sp>
        <p:nvSpPr>
          <p:cNvPr id="166" name="TextBox 14"/>
          <p:cNvSpPr txBox="1"/>
          <p:nvPr/>
        </p:nvSpPr>
        <p:spPr>
          <a:xfrm>
            <a:off x="969263" y="4270247"/>
            <a:ext cx="4892042" cy="165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20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web2 account → TEE browser/export → sealed artifact → policy-gated use</a:t>
            </a:r>
          </a:p>
        </p:txBody>
      </p:sp>
      <p:sp>
        <p:nvSpPr>
          <p:cNvPr id="167" name="TextBox 15"/>
          <p:cNvSpPr txBox="1"/>
          <p:nvPr/>
        </p:nvSpPr>
        <p:spPr>
          <a:xfrm>
            <a:off x="969263" y="4873752"/>
            <a:ext cx="4892042" cy="148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WhatsApp, email, private repos, and data portals become sealed assets.</a:t>
            </a:r>
          </a:p>
        </p:txBody>
      </p:sp>
      <p:sp>
        <p:nvSpPr>
          <p:cNvPr id="168" name="Rounded Rectangle 16"/>
          <p:cNvSpPr/>
          <p:nvPr/>
        </p:nvSpPr>
        <p:spPr>
          <a:xfrm>
            <a:off x="6263640" y="3703320"/>
            <a:ext cx="5349241" cy="1874519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6BD3E8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9" name="TextBox 17"/>
          <p:cNvSpPr txBox="1"/>
          <p:nvPr/>
        </p:nvSpPr>
        <p:spPr>
          <a:xfrm>
            <a:off x="6501384" y="3886200"/>
            <a:ext cx="4892041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6BD3E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 · Multi-Owner Collaboration</a:t>
            </a:r>
          </a:p>
        </p:txBody>
      </p:sp>
      <p:sp>
        <p:nvSpPr>
          <p:cNvPr id="170" name="TextBox 18"/>
          <p:cNvSpPr txBox="1"/>
          <p:nvPr/>
        </p:nvSpPr>
        <p:spPr>
          <a:xfrm>
            <a:off x="6501384" y="4270247"/>
            <a:ext cx="4892041" cy="342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20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 private corpora → fan-out gates → unanimous or M-of-N consent → joint result</a:t>
            </a:r>
          </a:p>
        </p:txBody>
      </p:sp>
      <p:sp>
        <p:nvSpPr>
          <p:cNvPr id="171" name="TextBox 19"/>
          <p:cNvSpPr txBox="1"/>
          <p:nvPr/>
        </p:nvSpPr>
        <p:spPr>
          <a:xfrm>
            <a:off x="6501384" y="4873752"/>
            <a:ext cx="4892041" cy="148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Biobank collaboration, sponsor/CRO workflows, cross-institution analysis.</a:t>
            </a:r>
          </a:p>
        </p:txBody>
      </p:sp>
      <p:sp>
        <p:nvSpPr>
          <p:cNvPr id="172" name="TextBox 20"/>
          <p:cNvSpPr txBox="1"/>
          <p:nvPr/>
        </p:nvSpPr>
        <p:spPr>
          <a:xfrm>
            <a:off x="731519" y="5806440"/>
            <a:ext cx="10698482" cy="394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3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Private Reward Lab is the strongest form of the diligence room: the evaluator does not just read an artifact — it tests candidates against it while the data stays sealed.</a:t>
            </a:r>
          </a:p>
        </p:txBody>
      </p:sp>
      <p:sp>
        <p:nvSpPr>
          <p:cNvPr id="173" name="TextBox 21"/>
          <p:cNvSpPr txBox="1"/>
          <p:nvPr/>
        </p:nvSpPr>
        <p:spPr>
          <a:xfrm>
            <a:off x="731519" y="6455664"/>
            <a:ext cx="274320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wikigen.me</a:t>
            </a:r>
          </a:p>
        </p:txBody>
      </p:sp>
      <p:sp>
        <p:nvSpPr>
          <p:cNvPr id="174" name="TextBox 22"/>
          <p:cNvSpPr txBox="1"/>
          <p:nvPr/>
        </p:nvSpPr>
        <p:spPr>
          <a:xfrm>
            <a:off x="10881359" y="6455664"/>
            <a:ext cx="59436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77" name="TextBox 2"/>
          <p:cNvSpPr txBox="1"/>
          <p:nvPr/>
        </p:nvSpPr>
        <p:spPr>
          <a:xfrm>
            <a:off x="731519" y="384047"/>
            <a:ext cx="731520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E8C9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ONE-LINER</a:t>
            </a:r>
          </a:p>
        </p:txBody>
      </p:sp>
      <p:sp>
        <p:nvSpPr>
          <p:cNvPr id="178" name="TextBox 3"/>
          <p:cNvSpPr txBox="1"/>
          <p:nvPr/>
        </p:nvSpPr>
        <p:spPr>
          <a:xfrm>
            <a:off x="731519" y="777240"/>
            <a:ext cx="10698482" cy="607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b="1" sz="400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Prime RL meets TEEs.</a:t>
            </a:r>
          </a:p>
        </p:txBody>
      </p:sp>
      <p:sp>
        <p:nvSpPr>
          <p:cNvPr id="179" name="TextBox 4"/>
          <p:cNvSpPr txBox="1"/>
          <p:nvPr/>
        </p:nvSpPr>
        <p:spPr>
          <a:xfrm>
            <a:off x="731519" y="1691639"/>
            <a:ext cx="9692642" cy="450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4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Community-built RL environments become sealed, attested reward oracles — royalty-bearing assets instead of donated public goods.</a:t>
            </a:r>
          </a:p>
        </p:txBody>
      </p:sp>
      <p:sp>
        <p:nvSpPr>
          <p:cNvPr id="180" name="Rounded Rectangle 5"/>
          <p:cNvSpPr/>
          <p:nvPr/>
        </p:nvSpPr>
        <p:spPr>
          <a:xfrm>
            <a:off x="731519" y="2514600"/>
            <a:ext cx="3429001" cy="2514600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6EE7C7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1" name="TextBox 6"/>
          <p:cNvSpPr txBox="1"/>
          <p:nvPr/>
        </p:nvSpPr>
        <p:spPr>
          <a:xfrm>
            <a:off x="987552" y="2788920"/>
            <a:ext cx="2916936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envs are assets</a:t>
            </a:r>
          </a:p>
        </p:txBody>
      </p:sp>
      <p:sp>
        <p:nvSpPr>
          <p:cNvPr id="182" name="TextBox 7"/>
          <p:cNvSpPr txBox="1"/>
          <p:nvPr/>
        </p:nvSpPr>
        <p:spPr>
          <a:xfrm>
            <a:off x="987552" y="3291840"/>
            <a:ext cx="2916936" cy="615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3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An environment creator seals data and verifier in a TEE. Anyone can train against it; nobody can copy it.</a:t>
            </a:r>
          </a:p>
        </p:txBody>
      </p:sp>
      <p:sp>
        <p:nvSpPr>
          <p:cNvPr id="183" name="Rounded Rectangle 8"/>
          <p:cNvSpPr/>
          <p:nvPr/>
        </p:nvSpPr>
        <p:spPr>
          <a:xfrm>
            <a:off x="4480559" y="2514600"/>
            <a:ext cx="3429001" cy="2514600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A78BF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" name="TextBox 9"/>
          <p:cNvSpPr txBox="1"/>
          <p:nvPr/>
        </p:nvSpPr>
        <p:spPr>
          <a:xfrm>
            <a:off x="4736591" y="2788920"/>
            <a:ext cx="2916936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A78B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usage is provable</a:t>
            </a:r>
          </a:p>
        </p:txBody>
      </p:sp>
      <p:sp>
        <p:nvSpPr>
          <p:cNvPr id="185" name="TextBox 10"/>
          <p:cNvSpPr txBox="1"/>
          <p:nvPr/>
        </p:nvSpPr>
        <p:spPr>
          <a:xfrm>
            <a:off x="4736591" y="3291840"/>
            <a:ext cx="2916936" cy="837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3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Every fine-tune that touches the environment is metered by measured code, so royalties are forced by contract, not by trust.</a:t>
            </a:r>
          </a:p>
        </p:txBody>
      </p:sp>
      <p:sp>
        <p:nvSpPr>
          <p:cNvPr id="186" name="Rounded Rectangle 11"/>
          <p:cNvSpPr/>
          <p:nvPr/>
        </p:nvSpPr>
        <p:spPr>
          <a:xfrm>
            <a:off x="8229600" y="2514600"/>
            <a:ext cx="3429000" cy="2514600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E8C97B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" name="TextBox 12"/>
          <p:cNvSpPr txBox="1"/>
          <p:nvPr/>
        </p:nvSpPr>
        <p:spPr>
          <a:xfrm>
            <a:off x="8485631" y="2788920"/>
            <a:ext cx="291693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E8C9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inference pays</a:t>
            </a:r>
          </a:p>
        </p:txBody>
      </p:sp>
      <p:sp>
        <p:nvSpPr>
          <p:cNvPr id="188" name="TextBox 13"/>
          <p:cNvSpPr txBox="1"/>
          <p:nvPr/>
        </p:nvSpPr>
        <p:spPr>
          <a:xfrm>
            <a:off x="8485631" y="3291840"/>
            <a:ext cx="2916937" cy="837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3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fine-tuned model stays encumbered inside the boundary — payouts stream from those who use the model, not those who trained it.</a:t>
            </a:r>
          </a:p>
        </p:txBody>
      </p:sp>
      <p:sp>
        <p:nvSpPr>
          <p:cNvPr id="189" name="TextBox 14"/>
          <p:cNvSpPr txBox="1"/>
          <p:nvPr/>
        </p:nvSpPr>
        <p:spPr>
          <a:xfrm>
            <a:off x="731519" y="5394959"/>
            <a:ext cx="1069848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5000"/>
              </a:lnSpc>
              <a:defRPr b="1" sz="1400">
                <a:solidFill>
                  <a:srgbClr val="6BD3E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Bootstrap:  </a:t>
            </a:r>
            <a:r>
              <a:rPr b="0">
                <a:solidFill>
                  <a:srgbClr val="CED6E0"/>
                </a:solidFill>
              </a:rPr>
              <a:t>the account-delegated Tinker proxy makes this runnable as a DevProof MVP today — no protocol-level integration required.</a:t>
            </a:r>
          </a:p>
        </p:txBody>
      </p:sp>
      <p:sp>
        <p:nvSpPr>
          <p:cNvPr id="190" name="TextBox 15"/>
          <p:cNvSpPr txBox="1"/>
          <p:nvPr/>
        </p:nvSpPr>
        <p:spPr>
          <a:xfrm>
            <a:off x="731519" y="6455664"/>
            <a:ext cx="274320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wikigen.me</a:t>
            </a:r>
          </a:p>
        </p:txBody>
      </p:sp>
      <p:sp>
        <p:nvSpPr>
          <p:cNvPr id="191" name="TextBox 16"/>
          <p:cNvSpPr txBox="1"/>
          <p:nvPr/>
        </p:nvSpPr>
        <p:spPr>
          <a:xfrm>
            <a:off x="10881359" y="6455664"/>
            <a:ext cx="59436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94" name="TextBox 2"/>
          <p:cNvSpPr txBox="1"/>
          <p:nvPr/>
        </p:nvSpPr>
        <p:spPr>
          <a:xfrm>
            <a:off x="731519" y="384047"/>
            <a:ext cx="731520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CONCRETE EXAMPLE</a:t>
            </a:r>
          </a:p>
        </p:txBody>
      </p:sp>
      <p:sp>
        <p:nvSpPr>
          <p:cNvPr id="195" name="TextBox 3"/>
          <p:cNvSpPr txBox="1"/>
          <p:nvPr/>
        </p:nvSpPr>
        <p:spPr>
          <a:xfrm>
            <a:off x="731519" y="713231"/>
            <a:ext cx="10698482" cy="9516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b="1" sz="300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TTT-Discover-style biology becomes a private reward environment.</a:t>
            </a:r>
          </a:p>
        </p:txBody>
      </p:sp>
      <p:sp>
        <p:nvSpPr>
          <p:cNvPr id="196" name="Rounded Rectangle 4"/>
          <p:cNvSpPr/>
          <p:nvPr/>
        </p:nvSpPr>
        <p:spPr>
          <a:xfrm>
            <a:off x="731519" y="1600200"/>
            <a:ext cx="10698482" cy="2697480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6EE7C7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" name="TextBox 5"/>
          <p:cNvSpPr txBox="1"/>
          <p:nvPr/>
        </p:nvSpPr>
        <p:spPr>
          <a:xfrm>
            <a:off x="1005839" y="1828800"/>
            <a:ext cx="1014984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Private bio verifier</a:t>
            </a:r>
          </a:p>
        </p:txBody>
      </p:sp>
      <p:sp>
        <p:nvSpPr>
          <p:cNvPr id="198" name="Oval 6"/>
          <p:cNvSpPr/>
          <p:nvPr/>
        </p:nvSpPr>
        <p:spPr>
          <a:xfrm>
            <a:off x="1051560" y="2368295"/>
            <a:ext cx="82297" cy="82297"/>
          </a:xfrm>
          <a:prstGeom prst="ellipse">
            <a:avLst/>
          </a:prstGeom>
          <a:solidFill>
            <a:srgbClr val="6EE7C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" name="TextBox 7"/>
          <p:cNvSpPr txBox="1"/>
          <p:nvPr/>
        </p:nvSpPr>
        <p:spPr>
          <a:xfrm>
            <a:off x="1325880" y="2286000"/>
            <a:ext cx="9966960" cy="1858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4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Candidate computational-bio code is proposed by an optimizer.</a:t>
            </a:r>
          </a:p>
        </p:txBody>
      </p:sp>
      <p:sp>
        <p:nvSpPr>
          <p:cNvPr id="200" name="Oval 8"/>
          <p:cNvSpPr/>
          <p:nvPr/>
        </p:nvSpPr>
        <p:spPr>
          <a:xfrm>
            <a:off x="1051560" y="2843783"/>
            <a:ext cx="82297" cy="82297"/>
          </a:xfrm>
          <a:prstGeom prst="ellipse">
            <a:avLst/>
          </a:prstGeom>
          <a:solidFill>
            <a:srgbClr val="6EE7C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" name="TextBox 9"/>
          <p:cNvSpPr txBox="1"/>
          <p:nvPr/>
        </p:nvSpPr>
        <p:spPr>
          <a:xfrm>
            <a:off x="1325880" y="2761488"/>
            <a:ext cx="9966960" cy="1858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4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TEE scores it against sealed data with hidden train / reward / final-validation splits.</a:t>
            </a:r>
          </a:p>
        </p:txBody>
      </p:sp>
      <p:sp>
        <p:nvSpPr>
          <p:cNvPr id="202" name="Oval 10"/>
          <p:cNvSpPr/>
          <p:nvPr/>
        </p:nvSpPr>
        <p:spPr>
          <a:xfrm>
            <a:off x="1051560" y="3319271"/>
            <a:ext cx="82297" cy="82297"/>
          </a:xfrm>
          <a:prstGeom prst="ellipse">
            <a:avLst/>
          </a:prstGeom>
          <a:solidFill>
            <a:srgbClr val="6EE7C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" name="TextBox 11"/>
          <p:cNvSpPr txBox="1"/>
          <p:nvPr/>
        </p:nvSpPr>
        <p:spPr>
          <a:xfrm>
            <a:off x="1325880" y="3236976"/>
            <a:ext cx="9966960" cy="1858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4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Exact rewards can drive learning internally; public feedback is quantized, banded, or withheld.</a:t>
            </a:r>
          </a:p>
        </p:txBody>
      </p:sp>
      <p:sp>
        <p:nvSpPr>
          <p:cNvPr id="204" name="Oval 12"/>
          <p:cNvSpPr/>
          <p:nvPr/>
        </p:nvSpPr>
        <p:spPr>
          <a:xfrm>
            <a:off x="1051560" y="3794759"/>
            <a:ext cx="82297" cy="82297"/>
          </a:xfrm>
          <a:prstGeom prst="ellipse">
            <a:avLst/>
          </a:prstGeom>
          <a:solidFill>
            <a:srgbClr val="6EE7C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" name="TextBox 13"/>
          <p:cNvSpPr txBox="1"/>
          <p:nvPr/>
        </p:nvSpPr>
        <p:spPr>
          <a:xfrm>
            <a:off x="1325880" y="3712464"/>
            <a:ext cx="9966960" cy="1858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4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 one-shot final-validation gate and query budgets stop holdout overfitting.</a:t>
            </a:r>
          </a:p>
        </p:txBody>
      </p:sp>
      <p:sp>
        <p:nvSpPr>
          <p:cNvPr id="206" name="Rounded Rectangle 14"/>
          <p:cNvSpPr/>
          <p:nvPr/>
        </p:nvSpPr>
        <p:spPr>
          <a:xfrm>
            <a:off x="731519" y="4572000"/>
            <a:ext cx="10698482" cy="1417320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A78BF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7" name="TextBox 15"/>
          <p:cNvSpPr txBox="1"/>
          <p:nvPr/>
        </p:nvSpPr>
        <p:spPr>
          <a:xfrm>
            <a:off x="1005839" y="4773167"/>
            <a:ext cx="10149842" cy="223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A78B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optimizer is swappable</a:t>
            </a:r>
          </a:p>
        </p:txBody>
      </p:sp>
      <p:sp>
        <p:nvSpPr>
          <p:cNvPr id="208" name="TextBox 16"/>
          <p:cNvSpPr txBox="1"/>
          <p:nvPr/>
        </p:nvSpPr>
        <p:spPr>
          <a:xfrm>
            <a:off x="1005839" y="5166359"/>
            <a:ext cx="10149842" cy="1858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RLVR   •   test-time training   •   LLM repair loop   •   evolutionary search   •   manual</a:t>
            </a:r>
          </a:p>
        </p:txBody>
      </p:sp>
      <p:sp>
        <p:nvSpPr>
          <p:cNvPr id="209" name="TextBox 17"/>
          <p:cNvSpPr txBox="1"/>
          <p:nvPr/>
        </p:nvSpPr>
        <p:spPr>
          <a:xfrm>
            <a:off x="1005839" y="5532120"/>
            <a:ext cx="10149842" cy="148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private reward boundary is the product; the optimizer is a plug-in.</a:t>
            </a:r>
          </a:p>
        </p:txBody>
      </p:sp>
      <p:sp>
        <p:nvSpPr>
          <p:cNvPr id="210" name="TextBox 18"/>
          <p:cNvSpPr txBox="1"/>
          <p:nvPr/>
        </p:nvSpPr>
        <p:spPr>
          <a:xfrm>
            <a:off x="731519" y="6455664"/>
            <a:ext cx="274320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wikigen.me</a:t>
            </a:r>
          </a:p>
        </p:txBody>
      </p:sp>
      <p:sp>
        <p:nvSpPr>
          <p:cNvPr id="211" name="TextBox 19"/>
          <p:cNvSpPr txBox="1"/>
          <p:nvPr/>
        </p:nvSpPr>
        <p:spPr>
          <a:xfrm>
            <a:off x="10881359" y="6455664"/>
            <a:ext cx="59436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14" name="TextBox 2"/>
          <p:cNvSpPr txBox="1"/>
          <p:nvPr/>
        </p:nvSpPr>
        <p:spPr>
          <a:xfrm>
            <a:off x="731519" y="384047"/>
            <a:ext cx="731520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SECURITY CLAIM</a:t>
            </a:r>
          </a:p>
        </p:txBody>
      </p:sp>
      <p:sp>
        <p:nvSpPr>
          <p:cNvPr id="215" name="TextBox 3"/>
          <p:cNvSpPr txBox="1"/>
          <p:nvPr/>
        </p:nvSpPr>
        <p:spPr>
          <a:xfrm>
            <a:off x="731519" y="713231"/>
            <a:ext cx="10698482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b="1" sz="300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Only the approved reward transcript leaves the TEE.</a:t>
            </a:r>
          </a:p>
        </p:txBody>
      </p:sp>
      <p:sp>
        <p:nvSpPr>
          <p:cNvPr id="216" name="TextBox 4"/>
          <p:cNvSpPr txBox="1"/>
          <p:nvPr/>
        </p:nvSpPr>
        <p:spPr>
          <a:xfrm>
            <a:off x="731519" y="1481327"/>
            <a:ext cx="9692642" cy="198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4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Private data can be queried many times inside the boundary, but every query passes through one measured interface.</a:t>
            </a:r>
          </a:p>
        </p:txBody>
      </p:sp>
      <p:sp>
        <p:nvSpPr>
          <p:cNvPr id="217" name="Rounded Rectangle 5"/>
          <p:cNvSpPr/>
          <p:nvPr/>
        </p:nvSpPr>
        <p:spPr>
          <a:xfrm>
            <a:off x="731519" y="2148839"/>
            <a:ext cx="2606041" cy="1965961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6EE7C7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" name="TextBox 6"/>
          <p:cNvSpPr txBox="1"/>
          <p:nvPr/>
        </p:nvSpPr>
        <p:spPr>
          <a:xfrm>
            <a:off x="932688" y="2313432"/>
            <a:ext cx="220370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219" name="TextBox 7"/>
          <p:cNvSpPr txBox="1"/>
          <p:nvPr/>
        </p:nvSpPr>
        <p:spPr>
          <a:xfrm>
            <a:off x="932688" y="2569464"/>
            <a:ext cx="220370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Seal D</a:t>
            </a:r>
          </a:p>
        </p:txBody>
      </p:sp>
      <p:sp>
        <p:nvSpPr>
          <p:cNvPr id="220" name="TextBox 8"/>
          <p:cNvSpPr txBox="1"/>
          <p:nvPr/>
        </p:nvSpPr>
        <p:spPr>
          <a:xfrm>
            <a:off x="932688" y="3044951"/>
            <a:ext cx="2203705" cy="3276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2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Private data and verifier code live inside the attested TEE.</a:t>
            </a:r>
          </a:p>
        </p:txBody>
      </p:sp>
      <p:sp>
        <p:nvSpPr>
          <p:cNvPr id="221" name="Rounded Rectangle 9"/>
          <p:cNvSpPr/>
          <p:nvPr/>
        </p:nvSpPr>
        <p:spPr>
          <a:xfrm>
            <a:off x="3474720" y="2148839"/>
            <a:ext cx="2606041" cy="1965961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6BD3E8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2" name="TextBox 10"/>
          <p:cNvSpPr txBox="1"/>
          <p:nvPr/>
        </p:nvSpPr>
        <p:spPr>
          <a:xfrm>
            <a:off x="3675888" y="2313432"/>
            <a:ext cx="220370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6BD3E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23" name="TextBox 11"/>
          <p:cNvSpPr txBox="1"/>
          <p:nvPr/>
        </p:nvSpPr>
        <p:spPr>
          <a:xfrm>
            <a:off x="3675888" y="2569464"/>
            <a:ext cx="220370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6BD3E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Run R_D(c)</a:t>
            </a:r>
          </a:p>
        </p:txBody>
      </p:sp>
      <p:sp>
        <p:nvSpPr>
          <p:cNvPr id="224" name="TextBox 12"/>
          <p:cNvSpPr txBox="1"/>
          <p:nvPr/>
        </p:nvSpPr>
        <p:spPr>
          <a:xfrm>
            <a:off x="3675888" y="3044951"/>
            <a:ext cx="2203705" cy="3276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2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Candidate code is sandboxed and scored against hidden data.</a:t>
            </a:r>
          </a:p>
        </p:txBody>
      </p:sp>
      <p:sp>
        <p:nvSpPr>
          <p:cNvPr id="225" name="Rounded Rectangle 13"/>
          <p:cNvSpPr/>
          <p:nvPr/>
        </p:nvSpPr>
        <p:spPr>
          <a:xfrm>
            <a:off x="6217920" y="2148839"/>
            <a:ext cx="2606041" cy="1965961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A78BF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6" name="TextBox 14"/>
          <p:cNvSpPr txBox="1"/>
          <p:nvPr/>
        </p:nvSpPr>
        <p:spPr>
          <a:xfrm>
            <a:off x="6419088" y="2313432"/>
            <a:ext cx="220370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A78B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27" name="TextBox 15"/>
          <p:cNvSpPr txBox="1"/>
          <p:nvPr/>
        </p:nvSpPr>
        <p:spPr>
          <a:xfrm>
            <a:off x="6419088" y="2569464"/>
            <a:ext cx="220370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A78B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Release Q(·)</a:t>
            </a:r>
          </a:p>
        </p:txBody>
      </p:sp>
      <p:sp>
        <p:nvSpPr>
          <p:cNvPr id="228" name="TextBox 16"/>
          <p:cNvSpPr txBox="1"/>
          <p:nvPr/>
        </p:nvSpPr>
        <p:spPr>
          <a:xfrm>
            <a:off x="6419088" y="3044951"/>
            <a:ext cx="2203705" cy="3276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2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Only reduced feedback leaves: band, hash, hold, or final result.</a:t>
            </a:r>
          </a:p>
        </p:txBody>
      </p:sp>
      <p:sp>
        <p:nvSpPr>
          <p:cNvPr id="229" name="Rounded Rectangle 17"/>
          <p:cNvSpPr/>
          <p:nvPr/>
        </p:nvSpPr>
        <p:spPr>
          <a:xfrm>
            <a:off x="8961119" y="2148839"/>
            <a:ext cx="2606041" cy="1965961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E8C97B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0" name="TextBox 18"/>
          <p:cNvSpPr txBox="1"/>
          <p:nvPr/>
        </p:nvSpPr>
        <p:spPr>
          <a:xfrm>
            <a:off x="9162288" y="2313432"/>
            <a:ext cx="220370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E8C9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231" name="TextBox 19"/>
          <p:cNvSpPr txBox="1"/>
          <p:nvPr/>
        </p:nvSpPr>
        <p:spPr>
          <a:xfrm>
            <a:off x="9162288" y="2569464"/>
            <a:ext cx="220370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E8C9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Account for leakage</a:t>
            </a:r>
          </a:p>
        </p:txBody>
      </p:sp>
      <p:sp>
        <p:nvSpPr>
          <p:cNvPr id="232" name="TextBox 20"/>
          <p:cNvSpPr txBox="1"/>
          <p:nvPr/>
        </p:nvSpPr>
        <p:spPr>
          <a:xfrm>
            <a:off x="9162288" y="3044951"/>
            <a:ext cx="2203705" cy="3276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2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public transcript is counted before the system is trusted.</a:t>
            </a:r>
          </a:p>
        </p:txBody>
      </p:sp>
      <p:sp>
        <p:nvSpPr>
          <p:cNvPr id="233" name="Rounded Rectangle 21"/>
          <p:cNvSpPr/>
          <p:nvPr/>
        </p:nvSpPr>
        <p:spPr>
          <a:xfrm>
            <a:off x="731519" y="4434840"/>
            <a:ext cx="10698482" cy="1600201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6BD3E8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4" name="TextBox 22"/>
          <p:cNvSpPr txBox="1"/>
          <p:nvPr/>
        </p:nvSpPr>
        <p:spPr>
          <a:xfrm>
            <a:off x="1005839" y="4617720"/>
            <a:ext cx="603504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6BD3E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Theorem 1 — leakage-only realization</a:t>
            </a:r>
          </a:p>
        </p:txBody>
      </p:sp>
      <p:sp>
        <p:nvSpPr>
          <p:cNvPr id="235" name="TextBox 23"/>
          <p:cNvSpPr txBox="1"/>
          <p:nvPr/>
        </p:nvSpPr>
        <p:spPr>
          <a:xfrm>
            <a:off x="1005839" y="5029200"/>
            <a:ext cx="6035042" cy="3380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2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Every outside view can be simulated from L(D), the declared leakage. If a fact is not in L(D), it does not appear outside the TEE — up to TEE, attestation, and standard crypto assumptions.</a:t>
            </a:r>
          </a:p>
        </p:txBody>
      </p:sp>
      <p:sp>
        <p:nvSpPr>
          <p:cNvPr id="236" name="TextBox 24"/>
          <p:cNvSpPr txBox="1"/>
          <p:nvPr/>
        </p:nvSpPr>
        <p:spPr>
          <a:xfrm>
            <a:off x="7315200" y="4846320"/>
            <a:ext cx="3840480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E8C9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I(D ; transcript) ≤ n·k + b</a:t>
            </a:r>
          </a:p>
        </p:txBody>
      </p:sp>
      <p:sp>
        <p:nvSpPr>
          <p:cNvPr id="237" name="TextBox 25"/>
          <p:cNvSpPr txBox="1"/>
          <p:nvPr/>
        </p:nvSpPr>
        <p:spPr>
          <a:xfrm>
            <a:off x="7315200" y="5349240"/>
            <a:ext cx="3840480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1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 reward queries × k visible bits + b final-result bits</a:t>
            </a:r>
          </a:p>
        </p:txBody>
      </p:sp>
      <p:sp>
        <p:nvSpPr>
          <p:cNvPr id="238" name="TextBox 26"/>
          <p:cNvSpPr txBox="1"/>
          <p:nvPr/>
        </p:nvSpPr>
        <p:spPr>
          <a:xfrm>
            <a:off x="731519" y="6455664"/>
            <a:ext cx="274320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wikigen.me</a:t>
            </a:r>
          </a:p>
        </p:txBody>
      </p:sp>
      <p:sp>
        <p:nvSpPr>
          <p:cNvPr id="239" name="TextBox 27"/>
          <p:cNvSpPr txBox="1"/>
          <p:nvPr/>
        </p:nvSpPr>
        <p:spPr>
          <a:xfrm>
            <a:off x="10881359" y="6455664"/>
            <a:ext cx="59436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42" name="TextBox 2"/>
          <p:cNvSpPr txBox="1"/>
          <p:nvPr/>
        </p:nvSpPr>
        <p:spPr>
          <a:xfrm>
            <a:off x="731519" y="384047"/>
            <a:ext cx="731520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ENCUMBERED COMPUTE</a:t>
            </a:r>
          </a:p>
        </p:txBody>
      </p:sp>
      <p:sp>
        <p:nvSpPr>
          <p:cNvPr id="243" name="TextBox 3"/>
          <p:cNvSpPr txBox="1"/>
          <p:nvPr/>
        </p:nvSpPr>
        <p:spPr>
          <a:xfrm>
            <a:off x="731519" y="713231"/>
            <a:ext cx="10698482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b="1" sz="300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Delegate the compute, never the account.</a:t>
            </a:r>
          </a:p>
        </p:txBody>
      </p:sp>
      <p:sp>
        <p:nvSpPr>
          <p:cNvPr id="244" name="TextBox 4"/>
          <p:cNvSpPr txBox="1"/>
          <p:nvPr/>
        </p:nvSpPr>
        <p:spPr>
          <a:xfrm>
            <a:off x="731519" y="1481327"/>
            <a:ext cx="9875522" cy="450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4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upstream Tinker API key, project id, cookies, and payment state are sealed service configuration inside the CVM. Users and agents only ever hold scoped proxy credentials.</a:t>
            </a:r>
          </a:p>
        </p:txBody>
      </p:sp>
      <p:sp>
        <p:nvSpPr>
          <p:cNvPr id="245" name="Rounded Rectangle 5"/>
          <p:cNvSpPr/>
          <p:nvPr/>
        </p:nvSpPr>
        <p:spPr>
          <a:xfrm>
            <a:off x="731519" y="2286000"/>
            <a:ext cx="2606041" cy="2286000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6EE7C7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6" name="TextBox 6"/>
          <p:cNvSpPr txBox="1"/>
          <p:nvPr/>
        </p:nvSpPr>
        <p:spPr>
          <a:xfrm>
            <a:off x="932688" y="2450592"/>
            <a:ext cx="220370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247" name="TextBox 7"/>
          <p:cNvSpPr txBox="1"/>
          <p:nvPr/>
        </p:nvSpPr>
        <p:spPr>
          <a:xfrm>
            <a:off x="932688" y="2706623"/>
            <a:ext cx="2203705" cy="210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scoped JWT</a:t>
            </a:r>
          </a:p>
        </p:txBody>
      </p:sp>
      <p:sp>
        <p:nvSpPr>
          <p:cNvPr id="248" name="TextBox 8"/>
          <p:cNvSpPr txBox="1"/>
          <p:nvPr/>
        </p:nvSpPr>
        <p:spPr>
          <a:xfrm>
            <a:off x="932688" y="3182111"/>
            <a:ext cx="2203705" cy="685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2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Short-lived, signed with CVM-derived key material, delivered encrypted to the recipient's X25519 key.</a:t>
            </a:r>
          </a:p>
        </p:txBody>
      </p:sp>
      <p:sp>
        <p:nvSpPr>
          <p:cNvPr id="249" name="Rounded Rectangle 9"/>
          <p:cNvSpPr/>
          <p:nvPr/>
        </p:nvSpPr>
        <p:spPr>
          <a:xfrm>
            <a:off x="3474720" y="2286000"/>
            <a:ext cx="2606041" cy="2286000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A78BF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0" name="TextBox 10"/>
          <p:cNvSpPr txBox="1"/>
          <p:nvPr/>
        </p:nvSpPr>
        <p:spPr>
          <a:xfrm>
            <a:off x="3675888" y="2450592"/>
            <a:ext cx="220370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A78B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51" name="TextBox 11"/>
          <p:cNvSpPr txBox="1"/>
          <p:nvPr/>
        </p:nvSpPr>
        <p:spPr>
          <a:xfrm>
            <a:off x="3675888" y="2706623"/>
            <a:ext cx="2203705" cy="210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A78B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policy gates</a:t>
            </a:r>
          </a:p>
        </p:txBody>
      </p:sp>
      <p:sp>
        <p:nvSpPr>
          <p:cNvPr id="252" name="TextBox 12"/>
          <p:cNvSpPr txBox="1"/>
          <p:nvPr/>
        </p:nvSpPr>
        <p:spPr>
          <a:xfrm>
            <a:off x="3675888" y="3182111"/>
            <a:ext cx="2203705" cy="685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2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Hash-only issue policy, verifier-signed identity registry, reviewer-signed grant lifecycle — all fail closed.</a:t>
            </a:r>
          </a:p>
        </p:txBody>
      </p:sp>
      <p:sp>
        <p:nvSpPr>
          <p:cNvPr id="253" name="Rounded Rectangle 13"/>
          <p:cNvSpPr/>
          <p:nvPr/>
        </p:nvSpPr>
        <p:spPr>
          <a:xfrm>
            <a:off x="6217920" y="2286000"/>
            <a:ext cx="2606041" cy="2286000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E8C97B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4" name="TextBox 14"/>
          <p:cNvSpPr txBox="1"/>
          <p:nvPr/>
        </p:nvSpPr>
        <p:spPr>
          <a:xfrm>
            <a:off x="6419088" y="2450592"/>
            <a:ext cx="220370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E8C9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55" name="TextBox 15"/>
          <p:cNvSpPr txBox="1"/>
          <p:nvPr/>
        </p:nvSpPr>
        <p:spPr>
          <a:xfrm>
            <a:off x="6419088" y="2706623"/>
            <a:ext cx="2203705" cy="210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E8C9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spend limits</a:t>
            </a:r>
          </a:p>
        </p:txBody>
      </p:sp>
      <p:sp>
        <p:nvSpPr>
          <p:cNvPr id="256" name="TextBox 16"/>
          <p:cNvSpPr txBox="1"/>
          <p:nvPr/>
        </p:nvSpPr>
        <p:spPr>
          <a:xfrm>
            <a:off x="6419088" y="3182111"/>
            <a:ext cx="2203705" cy="685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2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Per-scope caps enforced before automation, plus on-chain TinkerAccountEncumbrance approval for spend scopes.</a:t>
            </a:r>
          </a:p>
        </p:txBody>
      </p:sp>
      <p:sp>
        <p:nvSpPr>
          <p:cNvPr id="257" name="Rounded Rectangle 17"/>
          <p:cNvSpPr/>
          <p:nvPr/>
        </p:nvSpPr>
        <p:spPr>
          <a:xfrm>
            <a:off x="8961119" y="2286000"/>
            <a:ext cx="2606041" cy="2286000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6BD3E8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8" name="TextBox 18"/>
          <p:cNvSpPr txBox="1"/>
          <p:nvPr/>
        </p:nvSpPr>
        <p:spPr>
          <a:xfrm>
            <a:off x="9162288" y="2450592"/>
            <a:ext cx="220370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6BD3E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259" name="TextBox 19"/>
          <p:cNvSpPr txBox="1"/>
          <p:nvPr/>
        </p:nvSpPr>
        <p:spPr>
          <a:xfrm>
            <a:off x="9162288" y="2706623"/>
            <a:ext cx="2203705" cy="210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6BD3E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bounded receipts</a:t>
            </a:r>
          </a:p>
        </p:txBody>
      </p:sp>
      <p:sp>
        <p:nvSpPr>
          <p:cNvPr id="260" name="TextBox 20"/>
          <p:cNvSpPr txBox="1"/>
          <p:nvPr/>
        </p:nvSpPr>
        <p:spPr>
          <a:xfrm>
            <a:off x="9162288" y="3182111"/>
            <a:ext cx="2203705" cy="685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2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Hashes, bands, booleans, and audit records only — raw_secret_egress=false on every response.</a:t>
            </a:r>
          </a:p>
        </p:txBody>
      </p:sp>
      <p:sp>
        <p:nvSpPr>
          <p:cNvPr id="261" name="Rounded Rectangle 21"/>
          <p:cNvSpPr/>
          <p:nvPr/>
        </p:nvSpPr>
        <p:spPr>
          <a:xfrm>
            <a:off x="731519" y="4892040"/>
            <a:ext cx="10698482" cy="1097281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E8C97B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2" name="TextBox 22"/>
          <p:cNvSpPr txBox="1"/>
          <p:nvPr/>
        </p:nvSpPr>
        <p:spPr>
          <a:xfrm>
            <a:off x="1005839" y="5074920"/>
            <a:ext cx="10149842" cy="410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5000"/>
              </a:lnSpc>
              <a:defRPr b="1" sz="1300">
                <a:solidFill>
                  <a:srgbClr val="E8C9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Live today:  </a:t>
            </a:r>
            <a:r>
              <a:rPr b="0">
                <a:solidFill>
                  <a:srgbClr val="CED6E0"/>
                </a:solidFill>
              </a:rPr>
              <a:t>encrypted token issuance, recipient-side decrypt, and scoped proxy calls run on the operator-validation Phala CVM, gated by an on-chain-approved compose hash — with only hashes leaving the boundary.</a:t>
            </a:r>
          </a:p>
        </p:txBody>
      </p:sp>
      <p:sp>
        <p:nvSpPr>
          <p:cNvPr id="263" name="TextBox 23"/>
          <p:cNvSpPr txBox="1"/>
          <p:nvPr/>
        </p:nvSpPr>
        <p:spPr>
          <a:xfrm>
            <a:off x="731519" y="6455664"/>
            <a:ext cx="274320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wikigen.me</a:t>
            </a:r>
          </a:p>
        </p:txBody>
      </p:sp>
      <p:sp>
        <p:nvSpPr>
          <p:cNvPr id="264" name="TextBox 24"/>
          <p:cNvSpPr txBox="1"/>
          <p:nvPr/>
        </p:nvSpPr>
        <p:spPr>
          <a:xfrm>
            <a:off x="10881359" y="6455664"/>
            <a:ext cx="59436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67" name="TextBox 2"/>
          <p:cNvSpPr txBox="1"/>
          <p:nvPr/>
        </p:nvSpPr>
        <p:spPr>
          <a:xfrm>
            <a:off x="731519" y="384047"/>
            <a:ext cx="731520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EXISTS NOW</a:t>
            </a:r>
          </a:p>
        </p:txBody>
      </p:sp>
      <p:sp>
        <p:nvSpPr>
          <p:cNvPr id="268" name="TextBox 3"/>
          <p:cNvSpPr txBox="1"/>
          <p:nvPr/>
        </p:nvSpPr>
        <p:spPr>
          <a:xfrm>
            <a:off x="731519" y="713231"/>
            <a:ext cx="10698482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b="1" sz="300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This is a running system, not a concept deck.</a:t>
            </a:r>
          </a:p>
        </p:txBody>
      </p:sp>
      <p:sp>
        <p:nvSpPr>
          <p:cNvPr id="269" name="Rounded Rectangle 4"/>
          <p:cNvSpPr/>
          <p:nvPr/>
        </p:nvSpPr>
        <p:spPr>
          <a:xfrm>
            <a:off x="731519" y="1783079"/>
            <a:ext cx="868681" cy="292609"/>
          </a:xfrm>
          <a:prstGeom prst="roundRect">
            <a:avLst>
              <a:gd name="adj" fmla="val 50000"/>
            </a:avLst>
          </a:prstGeom>
          <a:ln w="12700">
            <a:solidFill>
              <a:srgbClr val="6EE7C7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0" name="TextBox 5"/>
          <p:cNvSpPr txBox="1"/>
          <p:nvPr/>
        </p:nvSpPr>
        <p:spPr>
          <a:xfrm>
            <a:off x="731519" y="1859596"/>
            <a:ext cx="868681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real</a:t>
            </a:r>
          </a:p>
        </p:txBody>
      </p:sp>
      <p:sp>
        <p:nvSpPr>
          <p:cNvPr id="271" name="TextBox 6"/>
          <p:cNvSpPr txBox="1"/>
          <p:nvPr/>
        </p:nvSpPr>
        <p:spPr>
          <a:xfrm>
            <a:off x="1828800" y="1764792"/>
            <a:ext cx="9509760" cy="377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3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Three contracts live on Base Sepolia with full test suites: DiligenceRoom escrow, EmailOracleAuth policy, and TinkerAccountEncumbrance spend caps.</a:t>
            </a:r>
          </a:p>
        </p:txBody>
      </p:sp>
      <p:sp>
        <p:nvSpPr>
          <p:cNvPr id="272" name="Rounded Rectangle 7"/>
          <p:cNvSpPr/>
          <p:nvPr/>
        </p:nvSpPr>
        <p:spPr>
          <a:xfrm>
            <a:off x="731519" y="2532888"/>
            <a:ext cx="868681" cy="292609"/>
          </a:xfrm>
          <a:prstGeom prst="roundRect">
            <a:avLst>
              <a:gd name="adj" fmla="val 50000"/>
            </a:avLst>
          </a:prstGeom>
          <a:ln w="12700">
            <a:solidFill>
              <a:srgbClr val="6EE7C7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3" name="TextBox 8"/>
          <p:cNvSpPr txBox="1"/>
          <p:nvPr/>
        </p:nvSpPr>
        <p:spPr>
          <a:xfrm>
            <a:off x="731519" y="2609406"/>
            <a:ext cx="86868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real</a:t>
            </a:r>
          </a:p>
        </p:txBody>
      </p:sp>
      <p:sp>
        <p:nvSpPr>
          <p:cNvPr id="274" name="TextBox 9"/>
          <p:cNvSpPr txBox="1"/>
          <p:nvPr/>
        </p:nvSpPr>
        <p:spPr>
          <a:xfrm>
            <a:off x="1828800" y="2514600"/>
            <a:ext cx="9509760" cy="377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3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Private reward stack: environment contract, Python candidate sandbox, hidden-holdout accounting, and a synthetic environment with a bounded demo CLI.</a:t>
            </a:r>
          </a:p>
        </p:txBody>
      </p:sp>
      <p:sp>
        <p:nvSpPr>
          <p:cNvPr id="275" name="Rounded Rectangle 10"/>
          <p:cNvSpPr/>
          <p:nvPr/>
        </p:nvSpPr>
        <p:spPr>
          <a:xfrm>
            <a:off x="731519" y="3282696"/>
            <a:ext cx="868681" cy="292609"/>
          </a:xfrm>
          <a:prstGeom prst="roundRect">
            <a:avLst>
              <a:gd name="adj" fmla="val 50000"/>
            </a:avLst>
          </a:prstGeom>
          <a:ln w="12700">
            <a:solidFill>
              <a:srgbClr val="6EE7C7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6" name="TextBox 11"/>
          <p:cNvSpPr txBox="1"/>
          <p:nvPr/>
        </p:nvSpPr>
        <p:spPr>
          <a:xfrm>
            <a:off x="731519" y="3359213"/>
            <a:ext cx="86868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real</a:t>
            </a:r>
          </a:p>
        </p:txBody>
      </p:sp>
      <p:sp>
        <p:nvSpPr>
          <p:cNvPr id="277" name="TextBox 12"/>
          <p:cNvSpPr txBox="1"/>
          <p:nvPr/>
        </p:nvSpPr>
        <p:spPr>
          <a:xfrm>
            <a:off x="1828800" y="3264408"/>
            <a:ext cx="9509760" cy="377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3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Chain watcher, TEE chain submitter, verifier-signed submitResult(), and a local synthetic-room-to-Anvil settlement proof that emits bounded JSON only.</a:t>
            </a:r>
          </a:p>
        </p:txBody>
      </p:sp>
      <p:sp>
        <p:nvSpPr>
          <p:cNvPr id="278" name="Rounded Rectangle 13"/>
          <p:cNvSpPr/>
          <p:nvPr/>
        </p:nvSpPr>
        <p:spPr>
          <a:xfrm>
            <a:off x="731519" y="4032503"/>
            <a:ext cx="868681" cy="292609"/>
          </a:xfrm>
          <a:prstGeom prst="roundRect">
            <a:avLst>
              <a:gd name="adj" fmla="val 50000"/>
            </a:avLst>
          </a:prstGeom>
          <a:ln w="12700">
            <a:solidFill>
              <a:srgbClr val="6EE7C7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9" name="TextBox 14"/>
          <p:cNvSpPr txBox="1"/>
          <p:nvPr/>
        </p:nvSpPr>
        <p:spPr>
          <a:xfrm>
            <a:off x="731519" y="4109021"/>
            <a:ext cx="86868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real</a:t>
            </a:r>
          </a:p>
        </p:txBody>
      </p:sp>
      <p:sp>
        <p:nvSpPr>
          <p:cNvPr id="280" name="TextBox 15"/>
          <p:cNvSpPr txBox="1"/>
          <p:nvPr/>
        </p:nvSpPr>
        <p:spPr>
          <a:xfrm>
            <a:off x="1828800" y="4014215"/>
            <a:ext cx="9509760" cy="3773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3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Live Phala CVM: sealed Tinker account with full API-key lifecycle (create / list / delete) via in-TEE browser automation, a $20 balance, scoped proxy JWTs, and delegated training driven end-to-end through the real /tinker/train endpoint.</a:t>
            </a:r>
          </a:p>
        </p:txBody>
      </p:sp>
      <p:sp>
        <p:nvSpPr>
          <p:cNvPr id="281" name="Rounded Rectangle 16"/>
          <p:cNvSpPr/>
          <p:nvPr/>
        </p:nvSpPr>
        <p:spPr>
          <a:xfrm>
            <a:off x="731519" y="4782311"/>
            <a:ext cx="868681" cy="292609"/>
          </a:xfrm>
          <a:prstGeom prst="roundRect">
            <a:avLst>
              <a:gd name="adj" fmla="val 50000"/>
            </a:avLst>
          </a:prstGeom>
          <a:ln w="12700">
            <a:solidFill>
              <a:srgbClr val="E8C97B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2" name="TextBox 17"/>
          <p:cNvSpPr txBox="1"/>
          <p:nvPr/>
        </p:nvSpPr>
        <p:spPr>
          <a:xfrm>
            <a:off x="731519" y="4858828"/>
            <a:ext cx="86868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E8C9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partial</a:t>
            </a:r>
          </a:p>
        </p:txBody>
      </p:sp>
      <p:sp>
        <p:nvSpPr>
          <p:cNvPr id="283" name="TextBox 18"/>
          <p:cNvSpPr txBox="1"/>
          <p:nvPr/>
        </p:nvSpPr>
        <p:spPr>
          <a:xfrm>
            <a:off x="1828800" y="4764023"/>
            <a:ext cx="9509760" cy="3773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3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Coordination layer: policy kernel, consent decisions, and reviewer queue are source-real; service wiring and production governance remain open.</a:t>
            </a:r>
          </a:p>
        </p:txBody>
      </p:sp>
      <p:sp>
        <p:nvSpPr>
          <p:cNvPr id="284" name="TextBox 19"/>
          <p:cNvSpPr txBox="1"/>
          <p:nvPr/>
        </p:nvSpPr>
        <p:spPr>
          <a:xfrm>
            <a:off x="731519" y="5669279"/>
            <a:ext cx="10698482" cy="1735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30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Everything public is hashes, bands, booleans, and attestations — the bounded-output rule is enforced in code and tests, not just prose.</a:t>
            </a:r>
          </a:p>
        </p:txBody>
      </p:sp>
      <p:sp>
        <p:nvSpPr>
          <p:cNvPr id="285" name="TextBox 20"/>
          <p:cNvSpPr txBox="1"/>
          <p:nvPr/>
        </p:nvSpPr>
        <p:spPr>
          <a:xfrm>
            <a:off x="731519" y="6455664"/>
            <a:ext cx="274320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wikigen.me</a:t>
            </a:r>
          </a:p>
        </p:txBody>
      </p:sp>
      <p:sp>
        <p:nvSpPr>
          <p:cNvPr id="286" name="TextBox 21"/>
          <p:cNvSpPr txBox="1"/>
          <p:nvPr/>
        </p:nvSpPr>
        <p:spPr>
          <a:xfrm>
            <a:off x="10881359" y="6455664"/>
            <a:ext cx="59436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89" name="TextBox 2"/>
          <p:cNvSpPr txBox="1"/>
          <p:nvPr/>
        </p:nvSpPr>
        <p:spPr>
          <a:xfrm>
            <a:off x="731519" y="384047"/>
            <a:ext cx="731520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E8C9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HONEST CURRENT STATE</a:t>
            </a:r>
          </a:p>
        </p:txBody>
      </p:sp>
      <p:sp>
        <p:nvSpPr>
          <p:cNvPr id="290" name="TextBox 3"/>
          <p:cNvSpPr txBox="1"/>
          <p:nvPr/>
        </p:nvSpPr>
        <p:spPr>
          <a:xfrm>
            <a:off x="731519" y="713231"/>
            <a:ext cx="10698482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b="1" sz="300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hard parts are named, not hidden.</a:t>
            </a:r>
          </a:p>
        </p:txBody>
      </p:sp>
      <p:sp>
        <p:nvSpPr>
          <p:cNvPr id="291" name="TextBox 4"/>
          <p:cNvSpPr txBox="1"/>
          <p:nvPr/>
        </p:nvSpPr>
        <p:spPr>
          <a:xfrm>
            <a:off x="731519" y="1783079"/>
            <a:ext cx="3108962" cy="210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b="1" sz="1400">
                <a:solidFill>
                  <a:srgbClr val="E8C9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Deployed Tinker training</a:t>
            </a:r>
          </a:p>
        </p:txBody>
      </p:sp>
      <p:sp>
        <p:nvSpPr>
          <p:cNvPr id="292" name="TextBox 5"/>
          <p:cNvSpPr txBox="1"/>
          <p:nvPr/>
        </p:nvSpPr>
        <p:spPr>
          <a:xfrm>
            <a:off x="4023359" y="1783079"/>
            <a:ext cx="7406641" cy="386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13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delegated proxy-&gt;train path runs end-to-end (verify -&gt; scope -&gt; spend-limit -&gt; create -&gt; forward/backward -&gt; checkpoint -&gt; bounded receipt), proven through the real endpoint; the one gap is upstream compute — a billing flag Tinker set on our funded account, clearable only by Tinker.</a:t>
            </a:r>
          </a:p>
        </p:txBody>
      </p:sp>
      <p:sp>
        <p:nvSpPr>
          <p:cNvPr id="293" name="TextBox 6"/>
          <p:cNvSpPr txBox="1"/>
          <p:nvPr/>
        </p:nvSpPr>
        <p:spPr>
          <a:xfrm>
            <a:off x="731519" y="2624327"/>
            <a:ext cx="3108962" cy="210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b="1" sz="1400">
                <a:solidFill>
                  <a:srgbClr val="E8C9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Quote verification</a:t>
            </a:r>
          </a:p>
        </p:txBody>
      </p:sp>
      <p:sp>
        <p:nvSpPr>
          <p:cNvPr id="294" name="TextBox 7"/>
          <p:cNvSpPr txBox="1"/>
          <p:nvPr/>
        </p:nvSpPr>
        <p:spPr>
          <a:xfrm>
            <a:off x="4023359" y="2624327"/>
            <a:ext cx="7406641" cy="386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13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verifier signatures and dstack envelope checks are real; full TDX quote parsing and a production verifier service are not.</a:t>
            </a:r>
          </a:p>
        </p:txBody>
      </p:sp>
      <p:sp>
        <p:nvSpPr>
          <p:cNvPr id="295" name="TextBox 8"/>
          <p:cNvSpPr txBox="1"/>
          <p:nvPr/>
        </p:nvSpPr>
        <p:spPr>
          <a:xfrm>
            <a:off x="731519" y="3465576"/>
            <a:ext cx="310896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b="1" sz="1400">
                <a:solidFill>
                  <a:srgbClr val="E8C9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Account funding</a:t>
            </a:r>
          </a:p>
        </p:txBody>
      </p:sp>
      <p:sp>
        <p:nvSpPr>
          <p:cNvPr id="296" name="TextBox 9"/>
          <p:cNvSpPr txBox="1"/>
          <p:nvPr/>
        </p:nvSpPr>
        <p:spPr>
          <a:xfrm>
            <a:off x="4023359" y="3465576"/>
            <a:ext cx="7406641" cy="386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13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funded $20 balance and card on file are real, yet Tinker's account billing flag persists; production custody, compliance approval, and a tokenized payment route remain open.</a:t>
            </a:r>
          </a:p>
        </p:txBody>
      </p:sp>
      <p:sp>
        <p:nvSpPr>
          <p:cNvPr id="297" name="TextBox 10"/>
          <p:cNvSpPr txBox="1"/>
          <p:nvPr/>
        </p:nvSpPr>
        <p:spPr>
          <a:xfrm>
            <a:off x="731519" y="4306823"/>
            <a:ext cx="3108962" cy="210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b="1" sz="1400">
                <a:solidFill>
                  <a:srgbClr val="E8C9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Bio validation</a:t>
            </a:r>
          </a:p>
        </p:txBody>
      </p:sp>
      <p:sp>
        <p:nvSpPr>
          <p:cNvPr id="298" name="TextBox 11"/>
          <p:cNvSpPr txBox="1"/>
          <p:nvPr/>
        </p:nvSpPr>
        <p:spPr>
          <a:xfrm>
            <a:off x="4023359" y="4306823"/>
            <a:ext cx="7406641" cy="1735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13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interfaces and toy environments only; real TTT/RL loops and OS-level candidate isolation are still to build.</a:t>
            </a:r>
          </a:p>
        </p:txBody>
      </p:sp>
      <p:sp>
        <p:nvSpPr>
          <p:cNvPr id="299" name="TextBox 12"/>
          <p:cNvSpPr txBox="1"/>
          <p:nvPr/>
        </p:nvSpPr>
        <p:spPr>
          <a:xfrm>
            <a:off x="731519" y="5148071"/>
            <a:ext cx="3108962" cy="210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b="1" sz="1400">
                <a:solidFill>
                  <a:srgbClr val="E8C9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Production surface</a:t>
            </a:r>
          </a:p>
        </p:txBody>
      </p:sp>
      <p:sp>
        <p:nvSpPr>
          <p:cNvPr id="300" name="TextBox 13"/>
          <p:cNvSpPr txBox="1"/>
          <p:nvPr/>
        </p:nvSpPr>
        <p:spPr>
          <a:xfrm>
            <a:off x="4023359" y="5148071"/>
            <a:ext cx="7406641" cy="386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13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frontend, DLP/egress enforcement, reviewer governance, and Proof-of-Cloud provenance are roadmap items.</a:t>
            </a:r>
          </a:p>
        </p:txBody>
      </p:sp>
      <p:sp>
        <p:nvSpPr>
          <p:cNvPr id="301" name="TextBox 14"/>
          <p:cNvSpPr txBox="1"/>
          <p:nvPr/>
        </p:nvSpPr>
        <p:spPr>
          <a:xfrm>
            <a:off x="731519" y="6455664"/>
            <a:ext cx="274320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wikigen.me</a:t>
            </a:r>
          </a:p>
        </p:txBody>
      </p:sp>
      <p:sp>
        <p:nvSpPr>
          <p:cNvPr id="302" name="TextBox 15"/>
          <p:cNvSpPr txBox="1"/>
          <p:nvPr/>
        </p:nvSpPr>
        <p:spPr>
          <a:xfrm>
            <a:off x="10881359" y="6455664"/>
            <a:ext cx="59436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05" name="TextBox 2"/>
          <p:cNvSpPr txBox="1"/>
          <p:nvPr/>
        </p:nvSpPr>
        <p:spPr>
          <a:xfrm>
            <a:off x="731519" y="384047"/>
            <a:ext cx="731520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WHY THIS BELONGS IN THE ETH CONVERSATION</a:t>
            </a:r>
          </a:p>
        </p:txBody>
      </p:sp>
      <p:sp>
        <p:nvSpPr>
          <p:cNvPr id="306" name="TextBox 3"/>
          <p:cNvSpPr txBox="1"/>
          <p:nvPr/>
        </p:nvSpPr>
        <p:spPr>
          <a:xfrm>
            <a:off x="731519" y="713231"/>
            <a:ext cx="10698482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b="1" sz="300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trust boundary becomes public infrastructure.</a:t>
            </a:r>
          </a:p>
        </p:txBody>
      </p:sp>
      <p:sp>
        <p:nvSpPr>
          <p:cNvPr id="307" name="Oval 4"/>
          <p:cNvSpPr/>
          <p:nvPr/>
        </p:nvSpPr>
        <p:spPr>
          <a:xfrm>
            <a:off x="777240" y="2185416"/>
            <a:ext cx="82297" cy="82297"/>
          </a:xfrm>
          <a:prstGeom prst="ellipse">
            <a:avLst/>
          </a:prstGeom>
          <a:solidFill>
            <a:srgbClr val="A78B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8" name="TextBox 5"/>
          <p:cNvSpPr txBox="1"/>
          <p:nvPr/>
        </p:nvSpPr>
        <p:spPr>
          <a:xfrm>
            <a:off x="1051560" y="2103120"/>
            <a:ext cx="9966960" cy="497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5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Attestations turn private computation into something users can verify end to end: git SHA → image digest → compose hash → TDX quote.</a:t>
            </a:r>
          </a:p>
        </p:txBody>
      </p:sp>
      <p:sp>
        <p:nvSpPr>
          <p:cNvPr id="309" name="Oval 6"/>
          <p:cNvSpPr/>
          <p:nvPr/>
        </p:nvSpPr>
        <p:spPr>
          <a:xfrm>
            <a:off x="777240" y="3099816"/>
            <a:ext cx="82297" cy="82297"/>
          </a:xfrm>
          <a:prstGeom prst="ellipse">
            <a:avLst/>
          </a:prstGeom>
          <a:solidFill>
            <a:srgbClr val="A78B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0" name="TextBox 7"/>
          <p:cNvSpPr txBox="1"/>
          <p:nvPr/>
        </p:nvSpPr>
        <p:spPr>
          <a:xfrm>
            <a:off x="1051560" y="3017520"/>
            <a:ext cx="9966960" cy="2105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5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Contracts enforce reserve prices, budget caps, spend policy, result hashes, and pull-payment settlement.</a:t>
            </a:r>
          </a:p>
        </p:txBody>
      </p:sp>
      <p:sp>
        <p:nvSpPr>
          <p:cNvPr id="311" name="Oval 8"/>
          <p:cNvSpPr/>
          <p:nvPr/>
        </p:nvSpPr>
        <p:spPr>
          <a:xfrm>
            <a:off x="777240" y="4014215"/>
            <a:ext cx="82297" cy="82297"/>
          </a:xfrm>
          <a:prstGeom prst="ellipse">
            <a:avLst/>
          </a:prstGeom>
          <a:solidFill>
            <a:srgbClr val="A78B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2" name="TextBox 9"/>
          <p:cNvSpPr txBox="1"/>
          <p:nvPr/>
        </p:nvSpPr>
        <p:spPr>
          <a:xfrm>
            <a:off x="1051560" y="3931920"/>
            <a:ext cx="9966960" cy="458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5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Private rewards create markets for benchmarks, biology, audits, and RL environments — with contract-forced royalties to their creators — without dumping raw assets on-chain.</a:t>
            </a:r>
          </a:p>
        </p:txBody>
      </p:sp>
      <p:sp>
        <p:nvSpPr>
          <p:cNvPr id="313" name="Oval 10"/>
          <p:cNvSpPr/>
          <p:nvPr/>
        </p:nvSpPr>
        <p:spPr>
          <a:xfrm>
            <a:off x="777240" y="4928615"/>
            <a:ext cx="82297" cy="82297"/>
          </a:xfrm>
          <a:prstGeom prst="ellipse">
            <a:avLst/>
          </a:prstGeom>
          <a:solidFill>
            <a:srgbClr val="A78B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4" name="TextBox 11"/>
          <p:cNvSpPr txBox="1"/>
          <p:nvPr/>
        </p:nvSpPr>
        <p:spPr>
          <a:xfrm>
            <a:off x="1051560" y="4846320"/>
            <a:ext cx="9966960" cy="2105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5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Flashbots / DevProof lesson applies: name every role, freeze the measurements, publish the verification path.</a:t>
            </a:r>
          </a:p>
        </p:txBody>
      </p:sp>
      <p:sp>
        <p:nvSpPr>
          <p:cNvPr id="315" name="TextBox 12"/>
          <p:cNvSpPr txBox="1"/>
          <p:nvPr/>
        </p:nvSpPr>
        <p:spPr>
          <a:xfrm>
            <a:off x="731519" y="6455664"/>
            <a:ext cx="274320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wikigen.me</a:t>
            </a:r>
          </a:p>
        </p:txBody>
      </p:sp>
      <p:sp>
        <p:nvSpPr>
          <p:cNvPr id="316" name="TextBox 13"/>
          <p:cNvSpPr txBox="1"/>
          <p:nvPr/>
        </p:nvSpPr>
        <p:spPr>
          <a:xfrm>
            <a:off x="10881359" y="6455664"/>
            <a:ext cx="59436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19" name="TextBox 2"/>
          <p:cNvSpPr txBox="1"/>
          <p:nvPr/>
        </p:nvSpPr>
        <p:spPr>
          <a:xfrm>
            <a:off x="731519" y="384047"/>
            <a:ext cx="731520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BUILD PLAN</a:t>
            </a:r>
          </a:p>
        </p:txBody>
      </p:sp>
      <p:sp>
        <p:nvSpPr>
          <p:cNvPr id="320" name="TextBox 3"/>
          <p:cNvSpPr txBox="1"/>
          <p:nvPr/>
        </p:nvSpPr>
        <p:spPr>
          <a:xfrm>
            <a:off x="731519" y="713231"/>
            <a:ext cx="10698482" cy="9516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b="1" sz="300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Next work turns the proof model into a demo anyone can verify.</a:t>
            </a:r>
          </a:p>
        </p:txBody>
      </p:sp>
      <p:sp>
        <p:nvSpPr>
          <p:cNvPr id="321" name="Rounded Rectangle 4"/>
          <p:cNvSpPr/>
          <p:nvPr/>
        </p:nvSpPr>
        <p:spPr>
          <a:xfrm>
            <a:off x="731519" y="2011679"/>
            <a:ext cx="2066545" cy="2834641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6EE7C7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2" name="TextBox 5"/>
          <p:cNvSpPr txBox="1"/>
          <p:nvPr/>
        </p:nvSpPr>
        <p:spPr>
          <a:xfrm>
            <a:off x="932688" y="2176272"/>
            <a:ext cx="166420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23" name="TextBox 6"/>
          <p:cNvSpPr txBox="1"/>
          <p:nvPr/>
        </p:nvSpPr>
        <p:spPr>
          <a:xfrm>
            <a:off x="932688" y="2432304"/>
            <a:ext cx="1664207" cy="401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Clear the Tinker account billing gate</a:t>
            </a:r>
          </a:p>
        </p:txBody>
      </p:sp>
      <p:sp>
        <p:nvSpPr>
          <p:cNvPr id="324" name="TextBox 7"/>
          <p:cNvSpPr txBox="1"/>
          <p:nvPr/>
        </p:nvSpPr>
        <p:spPr>
          <a:xfrm>
            <a:off x="932688" y="2907792"/>
            <a:ext cx="1664207" cy="5072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1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delegated training path is proven end-to-end; the one remaining step is Tinker activating our funded account (clear the 402).</a:t>
            </a:r>
          </a:p>
        </p:txBody>
      </p:sp>
      <p:sp>
        <p:nvSpPr>
          <p:cNvPr id="325" name="Rounded Rectangle 8"/>
          <p:cNvSpPr/>
          <p:nvPr/>
        </p:nvSpPr>
        <p:spPr>
          <a:xfrm>
            <a:off x="2907790" y="2011679"/>
            <a:ext cx="2066544" cy="2834641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6BD3E8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6" name="TextBox 9"/>
          <p:cNvSpPr txBox="1"/>
          <p:nvPr/>
        </p:nvSpPr>
        <p:spPr>
          <a:xfrm>
            <a:off x="3108959" y="2176272"/>
            <a:ext cx="1664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6BD3E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27" name="TextBox 10"/>
          <p:cNvSpPr txBox="1"/>
          <p:nvPr/>
        </p:nvSpPr>
        <p:spPr>
          <a:xfrm>
            <a:off x="3108959" y="2432304"/>
            <a:ext cx="1664208" cy="401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6BD3E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Production result verifier</a:t>
            </a:r>
          </a:p>
        </p:txBody>
      </p:sp>
      <p:sp>
        <p:nvSpPr>
          <p:cNvPr id="328" name="TextBox 11"/>
          <p:cNvSpPr txBox="1"/>
          <p:nvPr/>
        </p:nvSpPr>
        <p:spPr>
          <a:xfrm>
            <a:off x="3108959" y="2907792"/>
            <a:ext cx="1664208" cy="6864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1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Live TDX quote parsing and a deployed-CVM submitResult broadcast on Base Sepolia.</a:t>
            </a:r>
          </a:p>
        </p:txBody>
      </p:sp>
      <p:sp>
        <p:nvSpPr>
          <p:cNvPr id="329" name="Rounded Rectangle 12"/>
          <p:cNvSpPr/>
          <p:nvPr/>
        </p:nvSpPr>
        <p:spPr>
          <a:xfrm>
            <a:off x="5084064" y="2011679"/>
            <a:ext cx="2066544" cy="2834641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A78BF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0" name="TextBox 13"/>
          <p:cNvSpPr txBox="1"/>
          <p:nvPr/>
        </p:nvSpPr>
        <p:spPr>
          <a:xfrm>
            <a:off x="5285232" y="2176272"/>
            <a:ext cx="166420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A78B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31" name="TextBox 14"/>
          <p:cNvSpPr txBox="1"/>
          <p:nvPr/>
        </p:nvSpPr>
        <p:spPr>
          <a:xfrm>
            <a:off x="5285232" y="2432304"/>
            <a:ext cx="1664207" cy="401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A78B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Real reward environments</a:t>
            </a:r>
          </a:p>
        </p:txBody>
      </p:sp>
      <p:sp>
        <p:nvSpPr>
          <p:cNvPr id="332" name="TextBox 15"/>
          <p:cNvSpPr txBox="1"/>
          <p:nvPr/>
        </p:nvSpPr>
        <p:spPr>
          <a:xfrm>
            <a:off x="5285232" y="2907792"/>
            <a:ext cx="1664207" cy="5072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1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Bio benchmark, hardened OS-level candidate sandbox, and optional DP accounting.</a:t>
            </a:r>
          </a:p>
        </p:txBody>
      </p:sp>
      <p:sp>
        <p:nvSpPr>
          <p:cNvPr id="333" name="Rounded Rectangle 16"/>
          <p:cNvSpPr/>
          <p:nvPr/>
        </p:nvSpPr>
        <p:spPr>
          <a:xfrm>
            <a:off x="7260335" y="2011679"/>
            <a:ext cx="2066544" cy="2834641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E8C97B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4" name="TextBox 17"/>
          <p:cNvSpPr txBox="1"/>
          <p:nvPr/>
        </p:nvSpPr>
        <p:spPr>
          <a:xfrm>
            <a:off x="7461504" y="2176272"/>
            <a:ext cx="1664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E8C9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35" name="TextBox 18"/>
          <p:cNvSpPr txBox="1"/>
          <p:nvPr/>
        </p:nvSpPr>
        <p:spPr>
          <a:xfrm>
            <a:off x="7461504" y="2432304"/>
            <a:ext cx="1664208" cy="401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E8C9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Fail-closed enforcement</a:t>
            </a:r>
          </a:p>
        </p:txBody>
      </p:sp>
      <p:sp>
        <p:nvSpPr>
          <p:cNvPr id="336" name="TextBox 19"/>
          <p:cNvSpPr txBox="1"/>
          <p:nvPr/>
        </p:nvSpPr>
        <p:spPr>
          <a:xfrm>
            <a:off x="7461504" y="2907792"/>
            <a:ext cx="1664208" cy="5072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1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EmailOracleAuth on every OTP request, plus DLP/egress controls.</a:t>
            </a:r>
          </a:p>
        </p:txBody>
      </p:sp>
      <p:sp>
        <p:nvSpPr>
          <p:cNvPr id="337" name="Rounded Rectangle 20"/>
          <p:cNvSpPr/>
          <p:nvPr/>
        </p:nvSpPr>
        <p:spPr>
          <a:xfrm>
            <a:off x="9436607" y="2011679"/>
            <a:ext cx="2066544" cy="2834641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F5F7F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8" name="TextBox 21"/>
          <p:cNvSpPr txBox="1"/>
          <p:nvPr/>
        </p:nvSpPr>
        <p:spPr>
          <a:xfrm>
            <a:off x="9637776" y="2176272"/>
            <a:ext cx="1664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39" name="TextBox 22"/>
          <p:cNvSpPr txBox="1"/>
          <p:nvPr/>
        </p:nvSpPr>
        <p:spPr>
          <a:xfrm>
            <a:off x="9637776" y="2432304"/>
            <a:ext cx="1664208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Public verifier UI</a:t>
            </a:r>
          </a:p>
        </p:txBody>
      </p:sp>
      <p:sp>
        <p:nvSpPr>
          <p:cNvPr id="340" name="TextBox 23"/>
          <p:cNvSpPr txBox="1"/>
          <p:nvPr/>
        </p:nvSpPr>
        <p:spPr>
          <a:xfrm>
            <a:off x="9637776" y="2907792"/>
            <a:ext cx="1664208" cy="5072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1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Compose hash, quote, and tx trail with a transparency log for every run.</a:t>
            </a:r>
          </a:p>
        </p:txBody>
      </p:sp>
      <p:sp>
        <p:nvSpPr>
          <p:cNvPr id="341" name="TextBox 24"/>
          <p:cNvSpPr txBox="1"/>
          <p:nvPr/>
        </p:nvSpPr>
        <p:spPr>
          <a:xfrm>
            <a:off x="731519" y="6455664"/>
            <a:ext cx="274320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wikigen.me</a:t>
            </a:r>
          </a:p>
        </p:txBody>
      </p:sp>
      <p:sp>
        <p:nvSpPr>
          <p:cNvPr id="342" name="TextBox 25"/>
          <p:cNvSpPr txBox="1"/>
          <p:nvPr/>
        </p:nvSpPr>
        <p:spPr>
          <a:xfrm>
            <a:off x="10881359" y="6455664"/>
            <a:ext cx="59436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45" name="TextBox 2"/>
          <p:cNvSpPr txBox="1"/>
          <p:nvPr/>
        </p:nvSpPr>
        <p:spPr>
          <a:xfrm>
            <a:off x="731519" y="384047"/>
            <a:ext cx="731520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SUPPORT UNLOCKS</a:t>
            </a:r>
          </a:p>
        </p:txBody>
      </p:sp>
      <p:sp>
        <p:nvSpPr>
          <p:cNvPr id="346" name="TextBox 3"/>
          <p:cNvSpPr txBox="1"/>
          <p:nvPr/>
        </p:nvSpPr>
        <p:spPr>
          <a:xfrm>
            <a:off x="731519" y="713231"/>
            <a:ext cx="10698482" cy="9516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b="1" sz="300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This cohort can help make the project legible, verified, and real.</a:t>
            </a:r>
          </a:p>
        </p:txBody>
      </p:sp>
      <p:sp>
        <p:nvSpPr>
          <p:cNvPr id="347" name="Rounded Rectangle 4"/>
          <p:cNvSpPr/>
          <p:nvPr/>
        </p:nvSpPr>
        <p:spPr>
          <a:xfrm>
            <a:off x="731519" y="1783079"/>
            <a:ext cx="5257801" cy="3749040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6EE7C7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8" name="TextBox 5"/>
          <p:cNvSpPr txBox="1"/>
          <p:nvPr/>
        </p:nvSpPr>
        <p:spPr>
          <a:xfrm>
            <a:off x="1005840" y="2011679"/>
            <a:ext cx="4709160" cy="23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we need</a:t>
            </a:r>
          </a:p>
        </p:txBody>
      </p:sp>
      <p:sp>
        <p:nvSpPr>
          <p:cNvPr id="349" name="Oval 6"/>
          <p:cNvSpPr/>
          <p:nvPr/>
        </p:nvSpPr>
        <p:spPr>
          <a:xfrm>
            <a:off x="1051560" y="2642616"/>
            <a:ext cx="82297" cy="82297"/>
          </a:xfrm>
          <a:prstGeom prst="ellipse">
            <a:avLst/>
          </a:prstGeom>
          <a:solidFill>
            <a:srgbClr val="6EE7C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0" name="TextBox 7"/>
          <p:cNvSpPr txBox="1"/>
          <p:nvPr/>
        </p:nvSpPr>
        <p:spPr>
          <a:xfrm>
            <a:off x="1325880" y="2560320"/>
            <a:ext cx="4572001" cy="377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3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Cryptographic critique of the leakage model and Theorem 1 assumptions.</a:t>
            </a:r>
          </a:p>
        </p:txBody>
      </p:sp>
      <p:sp>
        <p:nvSpPr>
          <p:cNvPr id="351" name="Oval 8"/>
          <p:cNvSpPr/>
          <p:nvPr/>
        </p:nvSpPr>
        <p:spPr>
          <a:xfrm>
            <a:off x="1051560" y="3511296"/>
            <a:ext cx="82297" cy="82297"/>
          </a:xfrm>
          <a:prstGeom prst="ellipse">
            <a:avLst/>
          </a:prstGeom>
          <a:solidFill>
            <a:srgbClr val="6EE7C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2" name="TextBox 9"/>
          <p:cNvSpPr txBox="1"/>
          <p:nvPr/>
        </p:nvSpPr>
        <p:spPr>
          <a:xfrm>
            <a:off x="1325880" y="3429000"/>
            <a:ext cx="4572001" cy="377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3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TEE / Flashbots / DevProof review of the deployment and provenance story.</a:t>
            </a:r>
          </a:p>
        </p:txBody>
      </p:sp>
      <p:sp>
        <p:nvSpPr>
          <p:cNvPr id="353" name="Oval 10"/>
          <p:cNvSpPr/>
          <p:nvPr/>
        </p:nvSpPr>
        <p:spPr>
          <a:xfrm>
            <a:off x="1051560" y="4379974"/>
            <a:ext cx="82297" cy="82297"/>
          </a:xfrm>
          <a:prstGeom prst="ellipse">
            <a:avLst/>
          </a:prstGeom>
          <a:solidFill>
            <a:srgbClr val="6EE7C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4" name="TextBox 11"/>
          <p:cNvSpPr txBox="1"/>
          <p:nvPr/>
        </p:nvSpPr>
        <p:spPr>
          <a:xfrm>
            <a:off x="1325880" y="4297679"/>
            <a:ext cx="4572001" cy="1735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3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Tinker project entitlement, compute, and funding-rail support.</a:t>
            </a:r>
          </a:p>
        </p:txBody>
      </p:sp>
      <p:sp>
        <p:nvSpPr>
          <p:cNvPr id="355" name="Rounded Rectangle 12"/>
          <p:cNvSpPr/>
          <p:nvPr/>
        </p:nvSpPr>
        <p:spPr>
          <a:xfrm>
            <a:off x="6172200" y="1783079"/>
            <a:ext cx="5257800" cy="3749040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A78BF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6" name="TextBox 13"/>
          <p:cNvSpPr txBox="1"/>
          <p:nvPr/>
        </p:nvSpPr>
        <p:spPr>
          <a:xfrm>
            <a:off x="6446520" y="2011679"/>
            <a:ext cx="4709160" cy="23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A78B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it unlocks</a:t>
            </a:r>
          </a:p>
        </p:txBody>
      </p:sp>
      <p:sp>
        <p:nvSpPr>
          <p:cNvPr id="357" name="Oval 14"/>
          <p:cNvSpPr/>
          <p:nvPr/>
        </p:nvSpPr>
        <p:spPr>
          <a:xfrm>
            <a:off x="6492240" y="2642616"/>
            <a:ext cx="82297" cy="82297"/>
          </a:xfrm>
          <a:prstGeom prst="ellipse">
            <a:avLst/>
          </a:prstGeom>
          <a:solidFill>
            <a:srgbClr val="A78B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8" name="TextBox 15"/>
          <p:cNvSpPr txBox="1"/>
          <p:nvPr/>
        </p:nvSpPr>
        <p:spPr>
          <a:xfrm>
            <a:off x="6766559" y="2560320"/>
            <a:ext cx="4572001" cy="1735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3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 verifiable end-to-end demo of private reward over sealed data.</a:t>
            </a:r>
          </a:p>
        </p:txBody>
      </p:sp>
      <p:sp>
        <p:nvSpPr>
          <p:cNvPr id="359" name="Oval 16"/>
          <p:cNvSpPr/>
          <p:nvPr/>
        </p:nvSpPr>
        <p:spPr>
          <a:xfrm>
            <a:off x="6492240" y="3511296"/>
            <a:ext cx="82297" cy="82297"/>
          </a:xfrm>
          <a:prstGeom prst="ellipse">
            <a:avLst/>
          </a:prstGeom>
          <a:solidFill>
            <a:srgbClr val="A78B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0" name="TextBox 17"/>
          <p:cNvSpPr txBox="1"/>
          <p:nvPr/>
        </p:nvSpPr>
        <p:spPr>
          <a:xfrm>
            <a:off x="6766559" y="3429000"/>
            <a:ext cx="4572001" cy="1735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3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An ETH-native template for private benchmarks and data markets.</a:t>
            </a:r>
          </a:p>
        </p:txBody>
      </p:sp>
      <p:sp>
        <p:nvSpPr>
          <p:cNvPr id="361" name="Oval 18"/>
          <p:cNvSpPr/>
          <p:nvPr/>
        </p:nvSpPr>
        <p:spPr>
          <a:xfrm>
            <a:off x="6492240" y="4379974"/>
            <a:ext cx="82297" cy="82297"/>
          </a:xfrm>
          <a:prstGeom prst="ellipse">
            <a:avLst/>
          </a:prstGeom>
          <a:solidFill>
            <a:srgbClr val="A78B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2" name="TextBox 19"/>
          <p:cNvSpPr txBox="1"/>
          <p:nvPr/>
        </p:nvSpPr>
        <p:spPr>
          <a:xfrm>
            <a:off x="6766559" y="4297679"/>
            <a:ext cx="4572001" cy="377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3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Bio diligence without raw disclosure, with leakage counted up front.</a:t>
            </a:r>
          </a:p>
        </p:txBody>
      </p:sp>
      <p:sp>
        <p:nvSpPr>
          <p:cNvPr id="363" name="TextBox 20"/>
          <p:cNvSpPr txBox="1"/>
          <p:nvPr/>
        </p:nvSpPr>
        <p:spPr>
          <a:xfrm>
            <a:off x="731519" y="6455664"/>
            <a:ext cx="274320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wikigen.me</a:t>
            </a:r>
          </a:p>
        </p:txBody>
      </p:sp>
      <p:sp>
        <p:nvSpPr>
          <p:cNvPr id="364" name="TextBox 21"/>
          <p:cNvSpPr txBox="1"/>
          <p:nvPr/>
        </p:nvSpPr>
        <p:spPr>
          <a:xfrm>
            <a:off x="10881359" y="6455664"/>
            <a:ext cx="59436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67" name="TextBox 2"/>
          <p:cNvSpPr txBox="1"/>
          <p:nvPr/>
        </p:nvSpPr>
        <p:spPr>
          <a:xfrm>
            <a:off x="731519" y="1463039"/>
            <a:ext cx="10698482" cy="669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40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wikigen.me</a:t>
            </a:r>
          </a:p>
        </p:txBody>
      </p:sp>
      <p:sp>
        <p:nvSpPr>
          <p:cNvPr id="368" name="TextBox 3"/>
          <p:cNvSpPr txBox="1"/>
          <p:nvPr/>
        </p:nvSpPr>
        <p:spPr>
          <a:xfrm>
            <a:off x="731519" y="2514600"/>
            <a:ext cx="8778242" cy="334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b="1" sz="22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 us make private rewards verifiable public infrastructure.</a:t>
            </a:r>
          </a:p>
        </p:txBody>
      </p:sp>
      <p:sp>
        <p:nvSpPr>
          <p:cNvPr id="369" name="TextBox 4"/>
          <p:cNvSpPr txBox="1"/>
          <p:nvPr/>
        </p:nvSpPr>
        <p:spPr>
          <a:xfrm>
            <a:off x="731520" y="3520440"/>
            <a:ext cx="8046719" cy="460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0000"/>
              </a:lnSpc>
              <a:defRPr sz="14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goal is not to sell private data. It is to let private data prove, reward, validate, and settle under a boundary the ETH community can inspect.</a:t>
            </a:r>
          </a:p>
        </p:txBody>
      </p:sp>
      <p:sp>
        <p:nvSpPr>
          <p:cNvPr id="370" name="TextBox 5"/>
          <p:cNvSpPr txBox="1"/>
          <p:nvPr/>
        </p:nvSpPr>
        <p:spPr>
          <a:xfrm>
            <a:off x="731519" y="4526279"/>
            <a:ext cx="8778242" cy="210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b="1" sz="1400">
                <a:solidFill>
                  <a:srgbClr val="E8C9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Prime RL meets TEEs: environments become royalty-bearing assets, and inference pays their creators.</a:t>
            </a:r>
          </a:p>
        </p:txBody>
      </p:sp>
      <p:sp>
        <p:nvSpPr>
          <p:cNvPr id="371" name="Rounded Rectangle 6"/>
          <p:cNvSpPr/>
          <p:nvPr/>
        </p:nvSpPr>
        <p:spPr>
          <a:xfrm>
            <a:off x="731519" y="5074920"/>
            <a:ext cx="2560322" cy="365761"/>
          </a:xfrm>
          <a:prstGeom prst="roundRect">
            <a:avLst>
              <a:gd name="adj" fmla="val 50000"/>
            </a:avLst>
          </a:prstGeom>
          <a:ln w="12700">
            <a:solidFill>
              <a:srgbClr val="6EE7C7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2" name="TextBox 7"/>
          <p:cNvSpPr txBox="1"/>
          <p:nvPr/>
        </p:nvSpPr>
        <p:spPr>
          <a:xfrm>
            <a:off x="731519" y="5201666"/>
            <a:ext cx="2560322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Shape Rotator project</a:t>
            </a:r>
          </a:p>
        </p:txBody>
      </p:sp>
      <p:sp>
        <p:nvSpPr>
          <p:cNvPr id="373" name="Rounded Rectangle 8"/>
          <p:cNvSpPr/>
          <p:nvPr/>
        </p:nvSpPr>
        <p:spPr>
          <a:xfrm>
            <a:off x="3474720" y="5074920"/>
            <a:ext cx="2560321" cy="365761"/>
          </a:xfrm>
          <a:prstGeom prst="roundRect">
            <a:avLst>
              <a:gd name="adj" fmla="val 50000"/>
            </a:avLst>
          </a:prstGeom>
          <a:ln w="12700">
            <a:solidFill>
              <a:srgbClr val="A78BF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4" name="TextBox 9"/>
          <p:cNvSpPr txBox="1"/>
          <p:nvPr/>
        </p:nvSpPr>
        <p:spPr>
          <a:xfrm>
            <a:off x="3474720" y="5201666"/>
            <a:ext cx="256032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A78B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Flashbots-aligned trust model</a:t>
            </a:r>
          </a:p>
        </p:txBody>
      </p:sp>
      <p:sp>
        <p:nvSpPr>
          <p:cNvPr id="375" name="Rounded Rectangle 10"/>
          <p:cNvSpPr/>
          <p:nvPr/>
        </p:nvSpPr>
        <p:spPr>
          <a:xfrm>
            <a:off x="6217920" y="5074920"/>
            <a:ext cx="2560321" cy="365761"/>
          </a:xfrm>
          <a:prstGeom prst="roundRect">
            <a:avLst>
              <a:gd name="adj" fmla="val 50000"/>
            </a:avLst>
          </a:prstGeom>
          <a:ln w="12700">
            <a:solidFill>
              <a:srgbClr val="E8C97B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6" name="TextBox 11"/>
          <p:cNvSpPr txBox="1"/>
          <p:nvPr/>
        </p:nvSpPr>
        <p:spPr>
          <a:xfrm>
            <a:off x="6217920" y="5201666"/>
            <a:ext cx="256032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E8C9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ETH-verifiable settlement</a:t>
            </a:r>
          </a:p>
        </p:txBody>
      </p:sp>
      <p:sp>
        <p:nvSpPr>
          <p:cNvPr id="377" name="TextBox 12"/>
          <p:cNvSpPr txBox="1"/>
          <p:nvPr/>
        </p:nvSpPr>
        <p:spPr>
          <a:xfrm>
            <a:off x="731519" y="6455664"/>
            <a:ext cx="274320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wikigen.me</a:t>
            </a:r>
          </a:p>
        </p:txBody>
      </p:sp>
      <p:sp>
        <p:nvSpPr>
          <p:cNvPr id="378" name="TextBox 13"/>
          <p:cNvSpPr txBox="1"/>
          <p:nvPr/>
        </p:nvSpPr>
        <p:spPr>
          <a:xfrm>
            <a:off x="10881359" y="6455664"/>
            <a:ext cx="59436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